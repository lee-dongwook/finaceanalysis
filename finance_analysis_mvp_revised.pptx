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</p:sldIdLst>
  <p:notesMasterIdLst>
    <p:notesMasterId r:id="rId18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notesMaster" Target="notesMasters/notesMaster1.xml"/><Relationship Id="rId19" Type="http://schemas.openxmlformats.org/officeDocument/2006/relationships/presProps" Target="presProps.xml"/><Relationship Id="rId20" Type="http://schemas.openxmlformats.org/officeDocument/2006/relationships/viewProps" Target="viewProps.xml"/><Relationship Id="rId21" Type="http://schemas.openxmlformats.org/officeDocument/2006/relationships/theme" Target="theme/theme1.xml"/><Relationship Id="rId22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7F1E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85800" y="1481328"/>
            <a:ext cx="7406640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100" b="1" dirty="0">
                <a:solidFill>
                  <a:srgbClr val="252525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Finance Analysis MVP</a:t>
            </a:r>
            <a:endParaRPr lang="en-US" sz="3100" dirty="0"/>
          </a:p>
        </p:txBody>
      </p:sp>
      <p:sp>
        <p:nvSpPr>
          <p:cNvPr id="3" name="Shape 1"/>
          <p:cNvSpPr/>
          <p:nvPr/>
        </p:nvSpPr>
        <p:spPr>
          <a:xfrm>
            <a:off x="713232" y="2331720"/>
            <a:ext cx="3749040" cy="0"/>
          </a:xfrm>
          <a:prstGeom prst="line">
            <a:avLst/>
          </a:prstGeom>
          <a:noFill/>
          <a:ln w="27940">
            <a:solidFill>
              <a:srgbClr val="C77B45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713232" y="2633472"/>
            <a:ext cx="7406640" cy="64008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algn="l" indent="0" marL="0">
              <a:lnSpc>
                <a:spcPct val="95000"/>
              </a:lnSpc>
              <a:buNone/>
            </a:pPr>
            <a:r>
              <a:rPr lang="en-US" sz="1500" dirty="0">
                <a:solidFill>
                  <a:srgbClr val="252525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국내 상장 ETF를 대상으로 투자 조건, KRX 시세, 정량 지표, 뉴스 감성 정보를 한 화면에서 확인하는 웹 애플리케이션</a:t>
            </a:r>
            <a:endParaRPr lang="en-US" sz="1500" dirty="0"/>
          </a:p>
        </p:txBody>
      </p:sp>
      <p:sp>
        <p:nvSpPr>
          <p:cNvPr id="5" name="Text 3"/>
          <p:cNvSpPr/>
          <p:nvPr/>
        </p:nvSpPr>
        <p:spPr>
          <a:xfrm>
            <a:off x="713232" y="3886200"/>
            <a:ext cx="5943600" cy="29260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algn="l" indent="0" marL="0">
              <a:lnSpc>
                <a:spcPct val="95000"/>
              </a:lnSpc>
              <a:buNone/>
            </a:pPr>
            <a:r>
              <a:rPr lang="en-US" sz="1250" dirty="0">
                <a:solidFill>
                  <a:srgbClr val="6C625B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MVP 범위  |  ETF 분석  |  정량 + 뉴스 근거</a:t>
            </a:r>
            <a:endParaRPr lang="en-US" sz="1250" dirty="0"/>
          </a:p>
        </p:txBody>
      </p:sp>
      <p:sp>
        <p:nvSpPr>
          <p:cNvPr id="6" name="Text 4"/>
          <p:cNvSpPr/>
          <p:nvPr/>
        </p:nvSpPr>
        <p:spPr>
          <a:xfrm>
            <a:off x="713232" y="4800600"/>
            <a:ext cx="6766560" cy="29260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algn="l" indent="0" marL="0">
              <a:lnSpc>
                <a:spcPct val="95000"/>
              </a:lnSpc>
              <a:buNone/>
            </a:pPr>
            <a:r>
              <a:rPr lang="en-US" sz="1050" dirty="0">
                <a:solidFill>
                  <a:srgbClr val="6C625B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투자 권유가 아니며 성과를 보장하지 않습니다.</a:t>
            </a:r>
            <a:endParaRPr lang="en-US" sz="1050" dirty="0"/>
          </a:p>
        </p:txBody>
      </p:sp>
      <p:sp>
        <p:nvSpPr>
          <p:cNvPr id="7" name="Shape 5"/>
          <p:cNvSpPr/>
          <p:nvPr/>
        </p:nvSpPr>
        <p:spPr>
          <a:xfrm>
            <a:off x="8321040" y="1298448"/>
            <a:ext cx="3063240" cy="3611880"/>
          </a:xfrm>
          <a:prstGeom prst="rect">
            <a:avLst/>
          </a:prstGeom>
          <a:solidFill>
            <a:srgbClr val="ECE3DA"/>
          </a:solidFill>
          <a:ln w="7620">
            <a:solidFill>
              <a:srgbClr val="D5C9BF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8641080" y="1673352"/>
            <a:ext cx="2560320" cy="27432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algn="l" indent="0" marL="0">
              <a:lnSpc>
                <a:spcPct val="95000"/>
              </a:lnSpc>
              <a:buNone/>
            </a:pPr>
            <a:r>
              <a:rPr lang="en-US" sz="1300" b="1" dirty="0">
                <a:solidFill>
                  <a:srgbClr val="252525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데이터 흐름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8613648" y="2176272"/>
            <a:ext cx="310896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C77B45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1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8997696" y="2148840"/>
            <a:ext cx="1993392" cy="24688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algn="l" indent="0" marL="0">
              <a:lnSpc>
                <a:spcPct val="95000"/>
              </a:lnSpc>
              <a:buNone/>
            </a:pPr>
            <a:r>
              <a:rPr lang="en-US" sz="1300" b="1" dirty="0">
                <a:solidFill>
                  <a:srgbClr val="252525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조건 입력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8997696" y="2505456"/>
            <a:ext cx="1993392" cy="34747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algn="l" indent="0" marL="0">
              <a:lnSpc>
                <a:spcPct val="95000"/>
              </a:lnSpc>
              <a:buNone/>
            </a:pPr>
            <a:r>
              <a:rPr lang="en-US" sz="1020" dirty="0">
                <a:solidFill>
                  <a:srgbClr val="6C625B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투자금·기간·위험 성향</a:t>
            </a:r>
            <a:endParaRPr lang="en-US" sz="1020" dirty="0"/>
          </a:p>
        </p:txBody>
      </p:sp>
      <p:sp>
        <p:nvSpPr>
          <p:cNvPr id="12" name="Text 10"/>
          <p:cNvSpPr/>
          <p:nvPr/>
        </p:nvSpPr>
        <p:spPr>
          <a:xfrm>
            <a:off x="8613648" y="2953512"/>
            <a:ext cx="310896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C77B45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2</a:t>
            </a:r>
            <a:endParaRPr lang="en-US" sz="1000" dirty="0"/>
          </a:p>
        </p:txBody>
      </p:sp>
      <p:sp>
        <p:nvSpPr>
          <p:cNvPr id="13" name="Text 11"/>
          <p:cNvSpPr/>
          <p:nvPr/>
        </p:nvSpPr>
        <p:spPr>
          <a:xfrm>
            <a:off x="8997696" y="2926080"/>
            <a:ext cx="1993392" cy="24688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algn="l" indent="0" marL="0">
              <a:lnSpc>
                <a:spcPct val="95000"/>
              </a:lnSpc>
              <a:buNone/>
            </a:pPr>
            <a:r>
              <a:rPr lang="en-US" sz="1300" b="1" dirty="0">
                <a:solidFill>
                  <a:srgbClr val="252525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후보 선별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8997696" y="3282696"/>
            <a:ext cx="1993392" cy="34747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algn="l" indent="0" marL="0">
              <a:lnSpc>
                <a:spcPct val="95000"/>
              </a:lnSpc>
              <a:buNone/>
            </a:pPr>
            <a:r>
              <a:rPr lang="en-US" sz="1020" dirty="0">
                <a:solidFill>
                  <a:srgbClr val="6C625B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KRX ETF 데이터 기준 필터링</a:t>
            </a:r>
            <a:endParaRPr lang="en-US" sz="1020" dirty="0"/>
          </a:p>
        </p:txBody>
      </p:sp>
      <p:sp>
        <p:nvSpPr>
          <p:cNvPr id="15" name="Text 13"/>
          <p:cNvSpPr/>
          <p:nvPr/>
        </p:nvSpPr>
        <p:spPr>
          <a:xfrm>
            <a:off x="8613648" y="3730752"/>
            <a:ext cx="310896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C77B45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3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8997696" y="3703320"/>
            <a:ext cx="1993392" cy="24688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algn="l" indent="0" marL="0">
              <a:lnSpc>
                <a:spcPct val="95000"/>
              </a:lnSpc>
              <a:buNone/>
            </a:pPr>
            <a:r>
              <a:rPr lang="en-US" sz="1300" b="1" dirty="0">
                <a:solidFill>
                  <a:srgbClr val="252525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분석 결과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8997696" y="4059936"/>
            <a:ext cx="1993392" cy="34747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algn="l" indent="0" marL="0">
              <a:lnSpc>
                <a:spcPct val="95000"/>
              </a:lnSpc>
              <a:buNone/>
            </a:pPr>
            <a:r>
              <a:rPr lang="en-US" sz="1020" dirty="0">
                <a:solidFill>
                  <a:srgbClr val="6C625B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정량 지표와 뉴스 근거 비교</a:t>
            </a:r>
            <a:endParaRPr lang="en-US" sz="1020" dirty="0"/>
          </a:p>
        </p:txBody>
      </p:sp>
      <p:sp>
        <p:nvSpPr>
          <p:cNvPr id="18" name="Text 16"/>
          <p:cNvSpPr/>
          <p:nvPr/>
        </p:nvSpPr>
        <p:spPr>
          <a:xfrm>
            <a:off x="11201400" y="6382512"/>
            <a:ext cx="4572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50" dirty="0">
                <a:solidFill>
                  <a:srgbClr val="6C625B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01</a:t>
            </a:r>
            <a:endParaRPr lang="en-US" sz="750" dirty="0"/>
          </a:p>
        </p:txBody>
      </p:sp>
      <p:sp>
        <p:nvSpPr>
          <p:cNvPr id="19" name="Shape 17"/>
          <p:cNvSpPr/>
          <p:nvPr/>
        </p:nvSpPr>
        <p:spPr>
          <a:xfrm>
            <a:off x="685800" y="6272784"/>
            <a:ext cx="10287000" cy="0"/>
          </a:xfrm>
          <a:prstGeom prst="line">
            <a:avLst/>
          </a:prstGeom>
          <a:noFill/>
          <a:ln w="6985">
            <a:solidFill>
              <a:srgbClr val="B8AEA5"/>
            </a:solidFill>
            <a:prstDash val="solid"/>
          </a:ln>
        </p:spPr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7F1E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85800" y="475488"/>
            <a:ext cx="96012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252525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문제의식과 목표</a:t>
            </a:r>
            <a:endParaRPr lang="en-US" sz="2500" dirty="0"/>
          </a:p>
        </p:txBody>
      </p:sp>
      <p:sp>
        <p:nvSpPr>
          <p:cNvPr id="3" name="Shape 1"/>
          <p:cNvSpPr/>
          <p:nvPr/>
        </p:nvSpPr>
        <p:spPr>
          <a:xfrm>
            <a:off x="685800" y="1024128"/>
            <a:ext cx="10789920" cy="0"/>
          </a:xfrm>
          <a:prstGeom prst="line">
            <a:avLst/>
          </a:prstGeom>
          <a:noFill/>
          <a:ln w="10160">
            <a:solidFill>
              <a:srgbClr val="252525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704088" y="1152144"/>
            <a:ext cx="99669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50" dirty="0">
                <a:solidFill>
                  <a:srgbClr val="6C625B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초안의 일반적인 표현을 줄이고, 실제 구현 범위 중심으로 정리했습니다.</a:t>
            </a:r>
            <a:endParaRPr lang="en-US" sz="1150" dirty="0"/>
          </a:p>
        </p:txBody>
      </p:sp>
      <p:sp>
        <p:nvSpPr>
          <p:cNvPr id="5" name="Text 3"/>
          <p:cNvSpPr/>
          <p:nvPr/>
        </p:nvSpPr>
        <p:spPr>
          <a:xfrm>
            <a:off x="777240" y="1783080"/>
            <a:ext cx="2011680" cy="25603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algn="l" indent="0" marL="0">
              <a:lnSpc>
                <a:spcPct val="95000"/>
              </a:lnSpc>
              <a:buNone/>
            </a:pPr>
            <a:r>
              <a:rPr lang="en-US" sz="1200" b="1" dirty="0">
                <a:solidFill>
                  <a:srgbClr val="2F5F5B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문제의식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777240" y="2148840"/>
            <a:ext cx="4800600" cy="109728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algn="l" indent="0" marL="0">
              <a:lnSpc>
                <a:spcPct val="95000"/>
              </a:lnSpc>
              <a:buNone/>
            </a:pPr>
            <a:r>
              <a:rPr lang="en-US" sz="1500" dirty="0">
                <a:solidFill>
                  <a:srgbClr val="252525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ETF를 검토할 때 가격 데이터, 정량 지표, 뉴스 흐름을 각각 다른 화면에서 확인해야 합니다.</a:t>
            </a:r>
            <a:endParaRPr lang="en-US" sz="1500" dirty="0"/>
          </a:p>
          <a:p>
            <a:pPr algn="l" indent="0" marL="0">
              <a:lnSpc>
                <a:spcPct val="95000"/>
              </a:lnSpc>
              <a:buNone/>
            </a:pPr>
            <a:r>
              <a:rPr lang="en-US" sz="1500" dirty="0">
                <a:solidFill>
                  <a:srgbClr val="252525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이 과정은 비교 기준이 흩어지고, 후보를 좁히는 데 시간이 오래 걸립니다.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6172200" y="1783080"/>
            <a:ext cx="2011680" cy="25603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algn="l" indent="0" marL="0">
              <a:lnSpc>
                <a:spcPct val="95000"/>
              </a:lnSpc>
              <a:buNone/>
            </a:pPr>
            <a:r>
              <a:rPr lang="en-US" sz="1200" b="1" dirty="0">
                <a:solidFill>
                  <a:srgbClr val="2F5F5B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프로젝트 목표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6172200" y="2148840"/>
            <a:ext cx="5120640" cy="141732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indent="0" marL="0">
              <a:lnSpc>
                <a:spcPct val="95000"/>
              </a:lnSpc>
              <a:buNone/>
            </a:pPr>
            <a:r>
              <a:rPr lang="en-US" sz="1400" dirty="0">
                <a:solidFill>
                  <a:srgbClr val="252525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· 투자 조건 입력부터 후보 비교까지 한 화면에서 처리
</a:t>
            </a:r>
            <a:pPr indent="0" marL="0">
              <a:lnSpc>
                <a:spcPct val="95000"/>
              </a:lnSpc>
              <a:buNone/>
            </a:pPr>
            <a:r>
              <a:rPr lang="en-US" sz="1400" dirty="0">
                <a:solidFill>
                  <a:srgbClr val="252525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· 정량 지표와 뉴스 근거를 함께 보여 의사결정 보조
</a:t>
            </a:r>
            <a:pPr indent="0" marL="0">
              <a:lnSpc>
                <a:spcPct val="95000"/>
              </a:lnSpc>
              <a:buNone/>
            </a:pPr>
            <a:r>
              <a:rPr lang="en-US" sz="1400" dirty="0">
                <a:solidFill>
                  <a:srgbClr val="252525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· MVP 기준으로 실행 가능한 범위와 한계를 명확히 표시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777240" y="3886200"/>
            <a:ext cx="10424160" cy="0"/>
          </a:xfrm>
          <a:prstGeom prst="line">
            <a:avLst/>
          </a:prstGeom>
          <a:noFill/>
          <a:ln w="10160">
            <a:solidFill>
              <a:srgbClr val="B8AEA5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1051560" y="4370832"/>
            <a:ext cx="9692640" cy="41148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algn="l" indent="0" marL="0">
              <a:lnSpc>
                <a:spcPct val="95000"/>
              </a:lnSpc>
              <a:buNone/>
            </a:pPr>
            <a:r>
              <a:rPr lang="en-US" sz="1700" b="1" dirty="0">
                <a:solidFill>
                  <a:srgbClr val="2F5F5B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핵심 방향: 추천을 “확정”하지 않고, 사용자가 확인할 수 있는 근거를 구조화합니다.</a:t>
            </a:r>
            <a:endParaRPr lang="en-US" sz="1700" dirty="0"/>
          </a:p>
        </p:txBody>
      </p:sp>
      <p:sp>
        <p:nvSpPr>
          <p:cNvPr id="11" name="Text 9"/>
          <p:cNvSpPr/>
          <p:nvPr/>
        </p:nvSpPr>
        <p:spPr>
          <a:xfrm>
            <a:off x="11201400" y="6382512"/>
            <a:ext cx="4572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50" dirty="0">
                <a:solidFill>
                  <a:srgbClr val="6C625B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02</a:t>
            </a:r>
            <a:endParaRPr lang="en-US" sz="750" dirty="0"/>
          </a:p>
        </p:txBody>
      </p:sp>
      <p:sp>
        <p:nvSpPr>
          <p:cNvPr id="12" name="Shape 10"/>
          <p:cNvSpPr/>
          <p:nvPr/>
        </p:nvSpPr>
        <p:spPr>
          <a:xfrm>
            <a:off x="685800" y="6272784"/>
            <a:ext cx="10287000" cy="0"/>
          </a:xfrm>
          <a:prstGeom prst="line">
            <a:avLst/>
          </a:prstGeom>
          <a:noFill/>
          <a:ln w="6985">
            <a:solidFill>
              <a:srgbClr val="B8AEA5"/>
            </a:solidFill>
            <a:prstDash val="solid"/>
          </a:ln>
        </p:spPr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7F1E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85800" y="475488"/>
            <a:ext cx="96012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252525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제품 한눈에 보기</a:t>
            </a:r>
            <a:endParaRPr lang="en-US" sz="2500" dirty="0"/>
          </a:p>
        </p:txBody>
      </p:sp>
      <p:sp>
        <p:nvSpPr>
          <p:cNvPr id="3" name="Shape 1"/>
          <p:cNvSpPr/>
          <p:nvPr/>
        </p:nvSpPr>
        <p:spPr>
          <a:xfrm>
            <a:off x="685800" y="1024128"/>
            <a:ext cx="10789920" cy="0"/>
          </a:xfrm>
          <a:prstGeom prst="line">
            <a:avLst/>
          </a:prstGeom>
          <a:noFill/>
          <a:ln w="10160">
            <a:solidFill>
              <a:srgbClr val="252525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704088" y="1152144"/>
            <a:ext cx="99669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50" dirty="0">
                <a:solidFill>
                  <a:srgbClr val="6C625B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입력값, 데이터 수집, 분석, 화면 표시가 어떻게 이어지는지 요약합니다.</a:t>
            </a:r>
            <a:endParaRPr lang="en-US" sz="1150" dirty="0"/>
          </a:p>
        </p:txBody>
      </p:sp>
      <p:sp>
        <p:nvSpPr>
          <p:cNvPr id="5" name="Text 3"/>
          <p:cNvSpPr/>
          <p:nvPr/>
        </p:nvSpPr>
        <p:spPr>
          <a:xfrm>
            <a:off x="777240" y="1847088"/>
            <a:ext cx="292608" cy="219456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algn="l" indent="0" marL="0">
              <a:lnSpc>
                <a:spcPct val="95000"/>
              </a:lnSpc>
              <a:buNone/>
            </a:pPr>
            <a:r>
              <a:rPr lang="en-US" sz="1000" b="1" dirty="0">
                <a:solidFill>
                  <a:srgbClr val="C77B45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1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1143000" y="1810512"/>
            <a:ext cx="1371600" cy="25603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algn="l" indent="0" marL="0">
              <a:lnSpc>
                <a:spcPct val="95000"/>
              </a:lnSpc>
              <a:buNone/>
            </a:pPr>
            <a:r>
              <a:rPr lang="en-US" sz="1400" b="1" dirty="0">
                <a:solidFill>
                  <a:srgbClr val="252525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입력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777240" y="2221992"/>
            <a:ext cx="1508760" cy="0"/>
          </a:xfrm>
          <a:prstGeom prst="line">
            <a:avLst/>
          </a:prstGeom>
          <a:noFill/>
          <a:ln w="15240">
            <a:solidFill>
              <a:srgbClr val="B8AEA5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777240" y="2514600"/>
            <a:ext cx="1508760" cy="105156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algn="l" indent="0" marL="0">
              <a:lnSpc>
                <a:spcPct val="95000"/>
              </a:lnSpc>
              <a:buNone/>
            </a:pPr>
            <a:r>
              <a:rPr lang="en-US" sz="1250" dirty="0">
                <a:solidFill>
                  <a:srgbClr val="6C625B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투자금</a:t>
            </a:r>
            <a:endParaRPr lang="en-US" sz="1250" dirty="0"/>
          </a:p>
          <a:p>
            <a:pPr algn="l" indent="0" marL="0">
              <a:lnSpc>
                <a:spcPct val="95000"/>
              </a:lnSpc>
              <a:buNone/>
            </a:pPr>
            <a:r>
              <a:rPr lang="en-US" sz="1250" dirty="0">
                <a:solidFill>
                  <a:srgbClr val="6C625B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기간</a:t>
            </a:r>
            <a:endParaRPr lang="en-US" sz="1250" dirty="0"/>
          </a:p>
          <a:p>
            <a:pPr algn="l" indent="0" marL="0">
              <a:lnSpc>
                <a:spcPct val="95000"/>
              </a:lnSpc>
              <a:buNone/>
            </a:pPr>
            <a:r>
              <a:rPr lang="en-US" sz="1250" dirty="0">
                <a:solidFill>
                  <a:srgbClr val="6C625B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위험 성향</a:t>
            </a:r>
            <a:endParaRPr lang="en-US" sz="1250" dirty="0"/>
          </a:p>
        </p:txBody>
      </p:sp>
      <p:sp>
        <p:nvSpPr>
          <p:cNvPr id="9" name="Shape 7"/>
          <p:cNvSpPr/>
          <p:nvPr/>
        </p:nvSpPr>
        <p:spPr>
          <a:xfrm>
            <a:off x="2441448" y="2395728"/>
            <a:ext cx="731520" cy="0"/>
          </a:xfrm>
          <a:prstGeom prst="line">
            <a:avLst/>
          </a:prstGeom>
          <a:noFill/>
          <a:ln w="13970">
            <a:solidFill>
              <a:srgbClr val="B8AEA5"/>
            </a:solidFill>
            <a:prstDash val="solid"/>
            <a:headEnd type="none"/>
            <a:tailEnd type="triangle"/>
          </a:ln>
        </p:spPr>
      </p:sp>
      <p:sp>
        <p:nvSpPr>
          <p:cNvPr id="10" name="Text 8"/>
          <p:cNvSpPr/>
          <p:nvPr/>
        </p:nvSpPr>
        <p:spPr>
          <a:xfrm>
            <a:off x="2971800" y="1847088"/>
            <a:ext cx="292608" cy="219456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algn="l" indent="0" marL="0">
              <a:lnSpc>
                <a:spcPct val="95000"/>
              </a:lnSpc>
              <a:buNone/>
            </a:pPr>
            <a:r>
              <a:rPr lang="en-US" sz="1000" b="1" dirty="0">
                <a:solidFill>
                  <a:srgbClr val="C77B45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2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3337560" y="1810512"/>
            <a:ext cx="1371600" cy="25603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algn="l" indent="0" marL="0">
              <a:lnSpc>
                <a:spcPct val="95000"/>
              </a:lnSpc>
              <a:buNone/>
            </a:pPr>
            <a:r>
              <a:rPr lang="en-US" sz="1400" b="1" dirty="0">
                <a:solidFill>
                  <a:srgbClr val="252525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수집</a:t>
            </a:r>
            <a:endParaRPr lang="en-US" sz="1400" dirty="0"/>
          </a:p>
        </p:txBody>
      </p:sp>
      <p:sp>
        <p:nvSpPr>
          <p:cNvPr id="12" name="Shape 10"/>
          <p:cNvSpPr/>
          <p:nvPr/>
        </p:nvSpPr>
        <p:spPr>
          <a:xfrm>
            <a:off x="2971800" y="2221992"/>
            <a:ext cx="1508760" cy="0"/>
          </a:xfrm>
          <a:prstGeom prst="line">
            <a:avLst/>
          </a:prstGeom>
          <a:noFill/>
          <a:ln w="15240">
            <a:solidFill>
              <a:srgbClr val="B8AEA5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2971800" y="2514600"/>
            <a:ext cx="1508760" cy="105156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algn="l" indent="0" marL="0">
              <a:lnSpc>
                <a:spcPct val="95000"/>
              </a:lnSpc>
              <a:buNone/>
            </a:pPr>
            <a:r>
              <a:rPr lang="en-US" sz="1250" dirty="0">
                <a:solidFill>
                  <a:srgbClr val="6C625B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KRX 시세</a:t>
            </a:r>
            <a:endParaRPr lang="en-US" sz="1250" dirty="0"/>
          </a:p>
          <a:p>
            <a:pPr algn="l" indent="0" marL="0">
              <a:lnSpc>
                <a:spcPct val="95000"/>
              </a:lnSpc>
              <a:buNone/>
            </a:pPr>
            <a:r>
              <a:rPr lang="en-US" sz="1250" dirty="0">
                <a:solidFill>
                  <a:srgbClr val="6C625B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NAVER 뉴스</a:t>
            </a:r>
            <a:endParaRPr lang="en-US" sz="1250" dirty="0"/>
          </a:p>
          <a:p>
            <a:pPr algn="l" indent="0" marL="0">
              <a:lnSpc>
                <a:spcPct val="95000"/>
              </a:lnSpc>
              <a:buNone/>
            </a:pPr>
            <a:r>
              <a:rPr lang="en-US" sz="1250" dirty="0">
                <a:solidFill>
                  <a:srgbClr val="6C625B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구성 종목</a:t>
            </a:r>
            <a:endParaRPr lang="en-US" sz="1250" dirty="0"/>
          </a:p>
        </p:txBody>
      </p:sp>
      <p:sp>
        <p:nvSpPr>
          <p:cNvPr id="14" name="Shape 12"/>
          <p:cNvSpPr/>
          <p:nvPr/>
        </p:nvSpPr>
        <p:spPr>
          <a:xfrm>
            <a:off x="4636008" y="2395728"/>
            <a:ext cx="731520" cy="0"/>
          </a:xfrm>
          <a:prstGeom prst="line">
            <a:avLst/>
          </a:prstGeom>
          <a:noFill/>
          <a:ln w="13970">
            <a:solidFill>
              <a:srgbClr val="B8AEA5"/>
            </a:solidFill>
            <a:prstDash val="solid"/>
            <a:headEnd type="none"/>
            <a:tailEnd type="triangle"/>
          </a:ln>
        </p:spPr>
      </p:sp>
      <p:sp>
        <p:nvSpPr>
          <p:cNvPr id="15" name="Text 13"/>
          <p:cNvSpPr/>
          <p:nvPr/>
        </p:nvSpPr>
        <p:spPr>
          <a:xfrm>
            <a:off x="5166360" y="1847088"/>
            <a:ext cx="292608" cy="219456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algn="l" indent="0" marL="0">
              <a:lnSpc>
                <a:spcPct val="95000"/>
              </a:lnSpc>
              <a:buNone/>
            </a:pPr>
            <a:r>
              <a:rPr lang="en-US" sz="1000" b="1" dirty="0">
                <a:solidFill>
                  <a:srgbClr val="C77B45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3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5532120" y="1810512"/>
            <a:ext cx="1371600" cy="25603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algn="l" indent="0" marL="0">
              <a:lnSpc>
                <a:spcPct val="95000"/>
              </a:lnSpc>
              <a:buNone/>
            </a:pPr>
            <a:r>
              <a:rPr lang="en-US" sz="1400" b="1" dirty="0">
                <a:solidFill>
                  <a:srgbClr val="252525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정량 계산</a:t>
            </a:r>
            <a:endParaRPr lang="en-US" sz="1400" dirty="0"/>
          </a:p>
        </p:txBody>
      </p:sp>
      <p:sp>
        <p:nvSpPr>
          <p:cNvPr id="17" name="Shape 15"/>
          <p:cNvSpPr/>
          <p:nvPr/>
        </p:nvSpPr>
        <p:spPr>
          <a:xfrm>
            <a:off x="5166360" y="2221992"/>
            <a:ext cx="1508760" cy="0"/>
          </a:xfrm>
          <a:prstGeom prst="line">
            <a:avLst/>
          </a:prstGeom>
          <a:noFill/>
          <a:ln w="15240">
            <a:solidFill>
              <a:srgbClr val="B8AEA5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5166360" y="2514600"/>
            <a:ext cx="1508760" cy="105156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algn="l" indent="0" marL="0">
              <a:lnSpc>
                <a:spcPct val="95000"/>
              </a:lnSpc>
              <a:buNone/>
            </a:pPr>
            <a:r>
              <a:rPr lang="en-US" sz="1250" dirty="0">
                <a:solidFill>
                  <a:srgbClr val="6C625B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수익률</a:t>
            </a:r>
            <a:endParaRPr lang="en-US" sz="1250" dirty="0"/>
          </a:p>
          <a:p>
            <a:pPr algn="l" indent="0" marL="0">
              <a:lnSpc>
                <a:spcPct val="95000"/>
              </a:lnSpc>
              <a:buNone/>
            </a:pPr>
            <a:r>
              <a:rPr lang="en-US" sz="1250" dirty="0">
                <a:solidFill>
                  <a:srgbClr val="6C625B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변동성</a:t>
            </a:r>
            <a:endParaRPr lang="en-US" sz="1250" dirty="0"/>
          </a:p>
          <a:p>
            <a:pPr algn="l" indent="0" marL="0">
              <a:lnSpc>
                <a:spcPct val="95000"/>
              </a:lnSpc>
              <a:buNone/>
            </a:pPr>
            <a:r>
              <a:rPr lang="en-US" sz="1250" dirty="0">
                <a:solidFill>
                  <a:srgbClr val="6C625B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MDD·샤프</a:t>
            </a:r>
            <a:endParaRPr lang="en-US" sz="1250" dirty="0"/>
          </a:p>
        </p:txBody>
      </p:sp>
      <p:sp>
        <p:nvSpPr>
          <p:cNvPr id="19" name="Shape 17"/>
          <p:cNvSpPr/>
          <p:nvPr/>
        </p:nvSpPr>
        <p:spPr>
          <a:xfrm>
            <a:off x="6830568" y="2395728"/>
            <a:ext cx="731520" cy="0"/>
          </a:xfrm>
          <a:prstGeom prst="line">
            <a:avLst/>
          </a:prstGeom>
          <a:noFill/>
          <a:ln w="13970">
            <a:solidFill>
              <a:srgbClr val="B8AEA5"/>
            </a:solidFill>
            <a:prstDash val="solid"/>
            <a:headEnd type="none"/>
            <a:tailEnd type="triangle"/>
          </a:ln>
        </p:spPr>
      </p:sp>
      <p:sp>
        <p:nvSpPr>
          <p:cNvPr id="20" name="Text 18"/>
          <p:cNvSpPr/>
          <p:nvPr/>
        </p:nvSpPr>
        <p:spPr>
          <a:xfrm>
            <a:off x="7360920" y="1847088"/>
            <a:ext cx="292608" cy="219456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algn="l" indent="0" marL="0">
              <a:lnSpc>
                <a:spcPct val="95000"/>
              </a:lnSpc>
              <a:buNone/>
            </a:pPr>
            <a:r>
              <a:rPr lang="en-US" sz="1000" b="1" dirty="0">
                <a:solidFill>
                  <a:srgbClr val="C77B45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4</a:t>
            </a:r>
            <a:endParaRPr lang="en-US" sz="1000" dirty="0"/>
          </a:p>
        </p:txBody>
      </p:sp>
      <p:sp>
        <p:nvSpPr>
          <p:cNvPr id="21" name="Text 19"/>
          <p:cNvSpPr/>
          <p:nvPr/>
        </p:nvSpPr>
        <p:spPr>
          <a:xfrm>
            <a:off x="7726680" y="1810512"/>
            <a:ext cx="1371600" cy="25603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algn="l" indent="0" marL="0">
              <a:lnSpc>
                <a:spcPct val="95000"/>
              </a:lnSpc>
              <a:buNone/>
            </a:pPr>
            <a:r>
              <a:rPr lang="en-US" sz="1400" b="1" dirty="0">
                <a:solidFill>
                  <a:srgbClr val="252525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뉴스 확인</a:t>
            </a:r>
            <a:endParaRPr lang="en-US" sz="1400" dirty="0"/>
          </a:p>
        </p:txBody>
      </p:sp>
      <p:sp>
        <p:nvSpPr>
          <p:cNvPr id="22" name="Shape 20"/>
          <p:cNvSpPr/>
          <p:nvPr/>
        </p:nvSpPr>
        <p:spPr>
          <a:xfrm>
            <a:off x="7360920" y="2221992"/>
            <a:ext cx="1508760" cy="0"/>
          </a:xfrm>
          <a:prstGeom prst="line">
            <a:avLst/>
          </a:prstGeom>
          <a:noFill/>
          <a:ln w="15240">
            <a:solidFill>
              <a:srgbClr val="B8AEA5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7360920" y="2514600"/>
            <a:ext cx="1508760" cy="105156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algn="l" indent="0" marL="0">
              <a:lnSpc>
                <a:spcPct val="95000"/>
              </a:lnSpc>
              <a:buNone/>
            </a:pPr>
            <a:r>
              <a:rPr lang="en-US" sz="1250" dirty="0">
                <a:solidFill>
                  <a:srgbClr val="6C625B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검증 뉴스 수</a:t>
            </a:r>
            <a:endParaRPr lang="en-US" sz="1250" dirty="0"/>
          </a:p>
          <a:p>
            <a:pPr algn="l" indent="0" marL="0">
              <a:lnSpc>
                <a:spcPct val="95000"/>
              </a:lnSpc>
              <a:buNone/>
            </a:pPr>
            <a:r>
              <a:rPr lang="en-US" sz="1250" dirty="0">
                <a:solidFill>
                  <a:srgbClr val="6C625B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감성 점수</a:t>
            </a:r>
            <a:endParaRPr lang="en-US" sz="1250" dirty="0"/>
          </a:p>
          <a:p>
            <a:pPr algn="l" indent="0" marL="0">
              <a:lnSpc>
                <a:spcPct val="95000"/>
              </a:lnSpc>
              <a:buNone/>
            </a:pPr>
            <a:r>
              <a:rPr lang="en-US" sz="1250" dirty="0">
                <a:solidFill>
                  <a:srgbClr val="6C625B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위험 요인</a:t>
            </a:r>
            <a:endParaRPr lang="en-US" sz="1250" dirty="0"/>
          </a:p>
        </p:txBody>
      </p:sp>
      <p:sp>
        <p:nvSpPr>
          <p:cNvPr id="24" name="Shape 22"/>
          <p:cNvSpPr/>
          <p:nvPr/>
        </p:nvSpPr>
        <p:spPr>
          <a:xfrm>
            <a:off x="9025128" y="2395728"/>
            <a:ext cx="731520" cy="0"/>
          </a:xfrm>
          <a:prstGeom prst="line">
            <a:avLst/>
          </a:prstGeom>
          <a:noFill/>
          <a:ln w="13970">
            <a:solidFill>
              <a:srgbClr val="B8AEA5"/>
            </a:solidFill>
            <a:prstDash val="solid"/>
            <a:headEnd type="none"/>
            <a:tailEnd type="triangle"/>
          </a:ln>
        </p:spPr>
      </p:sp>
      <p:sp>
        <p:nvSpPr>
          <p:cNvPr id="25" name="Text 23"/>
          <p:cNvSpPr/>
          <p:nvPr/>
        </p:nvSpPr>
        <p:spPr>
          <a:xfrm>
            <a:off x="9555480" y="1847088"/>
            <a:ext cx="292608" cy="219456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algn="l" indent="0" marL="0">
              <a:lnSpc>
                <a:spcPct val="95000"/>
              </a:lnSpc>
              <a:buNone/>
            </a:pPr>
            <a:r>
              <a:rPr lang="en-US" sz="1000" b="1" dirty="0">
                <a:solidFill>
                  <a:srgbClr val="C77B45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5</a:t>
            </a:r>
            <a:endParaRPr lang="en-US" sz="1000" dirty="0"/>
          </a:p>
        </p:txBody>
      </p:sp>
      <p:sp>
        <p:nvSpPr>
          <p:cNvPr id="26" name="Text 24"/>
          <p:cNvSpPr/>
          <p:nvPr/>
        </p:nvSpPr>
        <p:spPr>
          <a:xfrm>
            <a:off x="9921240" y="1810512"/>
            <a:ext cx="1371600" cy="25603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algn="l" indent="0" marL="0">
              <a:lnSpc>
                <a:spcPct val="95000"/>
              </a:lnSpc>
              <a:buNone/>
            </a:pPr>
            <a:r>
              <a:rPr lang="en-US" sz="1400" b="1" dirty="0">
                <a:solidFill>
                  <a:srgbClr val="252525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결과 화면</a:t>
            </a:r>
            <a:endParaRPr lang="en-US" sz="1400" dirty="0"/>
          </a:p>
        </p:txBody>
      </p:sp>
      <p:sp>
        <p:nvSpPr>
          <p:cNvPr id="27" name="Shape 25"/>
          <p:cNvSpPr/>
          <p:nvPr/>
        </p:nvSpPr>
        <p:spPr>
          <a:xfrm>
            <a:off x="9555480" y="2221992"/>
            <a:ext cx="1508760" cy="0"/>
          </a:xfrm>
          <a:prstGeom prst="line">
            <a:avLst/>
          </a:prstGeom>
          <a:noFill/>
          <a:ln w="15240">
            <a:solidFill>
              <a:srgbClr val="B8AEA5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9555480" y="2514600"/>
            <a:ext cx="1508760" cy="105156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algn="l" indent="0" marL="0">
              <a:lnSpc>
                <a:spcPct val="95000"/>
              </a:lnSpc>
              <a:buNone/>
            </a:pPr>
            <a:r>
              <a:rPr lang="en-US" sz="1250" dirty="0">
                <a:solidFill>
                  <a:srgbClr val="6C625B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순위표</a:t>
            </a:r>
            <a:endParaRPr lang="en-US" sz="1250" dirty="0"/>
          </a:p>
          <a:p>
            <a:pPr algn="l" indent="0" marL="0">
              <a:lnSpc>
                <a:spcPct val="95000"/>
              </a:lnSpc>
              <a:buNone/>
            </a:pPr>
            <a:r>
              <a:rPr lang="en-US" sz="1250" dirty="0">
                <a:solidFill>
                  <a:srgbClr val="6C625B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비교 차트</a:t>
            </a:r>
            <a:endParaRPr lang="en-US" sz="1250" dirty="0"/>
          </a:p>
          <a:p>
            <a:pPr algn="l" indent="0" marL="0">
              <a:lnSpc>
                <a:spcPct val="95000"/>
              </a:lnSpc>
              <a:buNone/>
            </a:pPr>
            <a:r>
              <a:rPr lang="en-US" sz="1250" dirty="0">
                <a:solidFill>
                  <a:srgbClr val="6C625B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근거 문장</a:t>
            </a:r>
            <a:endParaRPr lang="en-US" sz="1250" dirty="0"/>
          </a:p>
        </p:txBody>
      </p:sp>
      <p:sp>
        <p:nvSpPr>
          <p:cNvPr id="29" name="Text 27"/>
          <p:cNvSpPr/>
          <p:nvPr/>
        </p:nvSpPr>
        <p:spPr>
          <a:xfrm>
            <a:off x="960120" y="4882896"/>
            <a:ext cx="10058400" cy="50292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algn="l" indent="0" marL="0">
              <a:lnSpc>
                <a:spcPct val="95000"/>
              </a:lnSpc>
              <a:buNone/>
            </a:pPr>
            <a:r>
              <a:rPr lang="en-US" sz="1700" b="1" dirty="0">
                <a:solidFill>
                  <a:srgbClr val="2F5F5B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사용자에게 보여줄 최종 산출물은 ETF별 점수와 순위가 아니라, “왜 후보가 되었는지”를 설명하는 근거입니다.</a:t>
            </a:r>
            <a:endParaRPr lang="en-US" sz="1700" dirty="0"/>
          </a:p>
        </p:txBody>
      </p:sp>
      <p:sp>
        <p:nvSpPr>
          <p:cNvPr id="30" name="Text 28"/>
          <p:cNvSpPr/>
          <p:nvPr/>
        </p:nvSpPr>
        <p:spPr>
          <a:xfrm>
            <a:off x="11201400" y="6382512"/>
            <a:ext cx="4572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50" dirty="0">
                <a:solidFill>
                  <a:srgbClr val="6C625B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03</a:t>
            </a:r>
            <a:endParaRPr lang="en-US" sz="750" dirty="0"/>
          </a:p>
        </p:txBody>
      </p:sp>
      <p:sp>
        <p:nvSpPr>
          <p:cNvPr id="31" name="Shape 29"/>
          <p:cNvSpPr/>
          <p:nvPr/>
        </p:nvSpPr>
        <p:spPr>
          <a:xfrm>
            <a:off x="685800" y="6272784"/>
            <a:ext cx="10287000" cy="0"/>
          </a:xfrm>
          <a:prstGeom prst="line">
            <a:avLst/>
          </a:prstGeom>
          <a:noFill/>
          <a:ln w="6985">
            <a:solidFill>
              <a:srgbClr val="B8AEA5"/>
            </a:solidFill>
            <a:prstDash val="solid"/>
          </a:ln>
        </p:spPr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7F1E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85800" y="475488"/>
            <a:ext cx="96012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252525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주요 기능과 차별점</a:t>
            </a:r>
            <a:endParaRPr lang="en-US" sz="2500" dirty="0"/>
          </a:p>
        </p:txBody>
      </p:sp>
      <p:sp>
        <p:nvSpPr>
          <p:cNvPr id="3" name="Shape 1"/>
          <p:cNvSpPr/>
          <p:nvPr/>
        </p:nvSpPr>
        <p:spPr>
          <a:xfrm>
            <a:off x="685800" y="1024128"/>
            <a:ext cx="10789920" cy="0"/>
          </a:xfrm>
          <a:prstGeom prst="line">
            <a:avLst/>
          </a:prstGeom>
          <a:noFill/>
          <a:ln w="10160">
            <a:solidFill>
              <a:srgbClr val="252525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704088" y="1152144"/>
            <a:ext cx="99669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50" dirty="0">
                <a:solidFill>
                  <a:srgbClr val="6C625B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기능을 과장하지 않고 MVP에서 확인 가능한 가치 위주로 정리했습니다.</a:t>
            </a:r>
            <a:endParaRPr lang="en-US" sz="1150" dirty="0"/>
          </a:p>
        </p:txBody>
      </p:sp>
      <p:sp>
        <p:nvSpPr>
          <p:cNvPr id="5" name="Text 3"/>
          <p:cNvSpPr/>
          <p:nvPr/>
        </p:nvSpPr>
        <p:spPr>
          <a:xfrm>
            <a:off x="822960" y="1783080"/>
            <a:ext cx="3108960" cy="27432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algn="l" indent="0" marL="0">
              <a:lnSpc>
                <a:spcPct val="95000"/>
              </a:lnSpc>
              <a:buNone/>
            </a:pPr>
            <a:r>
              <a:rPr lang="en-US" sz="1200" b="1" dirty="0">
                <a:solidFill>
                  <a:srgbClr val="2F5F5B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원스톱 통합 분석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822960" y="2157984"/>
            <a:ext cx="3154680" cy="82296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algn="l" indent="0" marL="0">
              <a:lnSpc>
                <a:spcPct val="95000"/>
              </a:lnSpc>
              <a:buNone/>
            </a:pPr>
            <a:r>
              <a:rPr lang="en-US" sz="1300" dirty="0">
                <a:solidFill>
                  <a:srgbClr val="252525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조건 입력, KRX 시세, 정량 지표, 뉴스 정보를 한 화면에서 이어서 확인합니다.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4434840" y="1783080"/>
            <a:ext cx="3108960" cy="27432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algn="l" indent="0" marL="0">
              <a:lnSpc>
                <a:spcPct val="95000"/>
              </a:lnSpc>
              <a:buNone/>
            </a:pPr>
            <a:r>
              <a:rPr lang="en-US" sz="1200" b="1" dirty="0">
                <a:solidFill>
                  <a:srgbClr val="2F5F5B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뉴스 감성 분석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4434840" y="2157984"/>
            <a:ext cx="3154680" cy="82296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algn="l" indent="0" marL="0">
              <a:lnSpc>
                <a:spcPct val="95000"/>
              </a:lnSpc>
              <a:buNone/>
            </a:pPr>
            <a:r>
              <a:rPr lang="en-US" sz="1300" dirty="0">
                <a:solidFill>
                  <a:srgbClr val="252525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OpenAI API를 사용해 뉴스 감성, 핵심 이슈, 위험 요인을 보조 정보로 정리합니다.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8046720" y="1783080"/>
            <a:ext cx="3108960" cy="27432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algn="l" indent="0" marL="0">
              <a:lnSpc>
                <a:spcPct val="95000"/>
              </a:lnSpc>
              <a:buNone/>
            </a:pPr>
            <a:r>
              <a:rPr lang="en-US" sz="1200" b="1" dirty="0">
                <a:solidFill>
                  <a:srgbClr val="2F5F5B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맞춤형 기준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8046720" y="2157984"/>
            <a:ext cx="3154680" cy="82296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algn="l" indent="0" marL="0">
              <a:lnSpc>
                <a:spcPct val="95000"/>
              </a:lnSpc>
              <a:buNone/>
            </a:pPr>
            <a:r>
              <a:rPr lang="en-US" sz="1300" dirty="0">
                <a:solidFill>
                  <a:srgbClr val="252525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투자금, 기간, 위험 성향, 선호 자산 유형을 반영해 후보를 좁힙니다.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822960" y="3794760"/>
            <a:ext cx="10424160" cy="0"/>
          </a:xfrm>
          <a:prstGeom prst="line">
            <a:avLst/>
          </a:prstGeom>
          <a:noFill/>
          <a:ln w="10160">
            <a:solidFill>
              <a:srgbClr val="B8AEA5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822960" y="4343400"/>
            <a:ext cx="10424160" cy="53035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algn="l" indent="0" marL="0">
              <a:lnSpc>
                <a:spcPct val="95000"/>
              </a:lnSpc>
              <a:buNone/>
            </a:pPr>
            <a:r>
              <a:rPr lang="en-US" sz="1700" b="1" dirty="0">
                <a:solidFill>
                  <a:srgbClr val="2F5F5B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차별점은 “모든 판단을 자동화”하는 것이 아니라, 여러 근거를 한 번에 비교하게 만드는 데 있습니다.</a:t>
            </a:r>
            <a:endParaRPr lang="en-US" sz="1700" dirty="0"/>
          </a:p>
        </p:txBody>
      </p:sp>
      <p:sp>
        <p:nvSpPr>
          <p:cNvPr id="13" name="Text 11"/>
          <p:cNvSpPr/>
          <p:nvPr/>
        </p:nvSpPr>
        <p:spPr>
          <a:xfrm>
            <a:off x="11201400" y="6382512"/>
            <a:ext cx="4572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50" dirty="0">
                <a:solidFill>
                  <a:srgbClr val="6C625B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04</a:t>
            </a:r>
            <a:endParaRPr lang="en-US" sz="750" dirty="0"/>
          </a:p>
        </p:txBody>
      </p:sp>
      <p:sp>
        <p:nvSpPr>
          <p:cNvPr id="14" name="Shape 12"/>
          <p:cNvSpPr/>
          <p:nvPr/>
        </p:nvSpPr>
        <p:spPr>
          <a:xfrm>
            <a:off x="685800" y="6272784"/>
            <a:ext cx="10287000" cy="0"/>
          </a:xfrm>
          <a:prstGeom prst="line">
            <a:avLst/>
          </a:prstGeom>
          <a:noFill/>
          <a:ln w="6985">
            <a:solidFill>
              <a:srgbClr val="B8AEA5"/>
            </a:solidFill>
            <a:prstDash val="solid"/>
          </a:ln>
        </p:spPr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7F1E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85800" y="475488"/>
            <a:ext cx="96012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252525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팀원별 역할 및 수행 업무</a:t>
            </a:r>
            <a:endParaRPr lang="en-US" sz="2500" dirty="0"/>
          </a:p>
        </p:txBody>
      </p:sp>
      <p:sp>
        <p:nvSpPr>
          <p:cNvPr id="3" name="Shape 1"/>
          <p:cNvSpPr/>
          <p:nvPr/>
        </p:nvSpPr>
        <p:spPr>
          <a:xfrm>
            <a:off x="685800" y="1024128"/>
            <a:ext cx="10789920" cy="0"/>
          </a:xfrm>
          <a:prstGeom prst="line">
            <a:avLst/>
          </a:prstGeom>
          <a:noFill/>
          <a:ln w="10160">
            <a:solidFill>
              <a:srgbClr val="252525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822960" y="1783080"/>
            <a:ext cx="2011680" cy="25603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algn="l" indent="0" marL="0">
              <a:lnSpc>
                <a:spcPct val="95000"/>
              </a:lnSpc>
              <a:buNone/>
            </a:pPr>
            <a:r>
              <a:rPr lang="en-US" sz="1400" b="1" dirty="0">
                <a:solidFill>
                  <a:srgbClr val="2F5F5B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프론트엔드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822960" y="2176272"/>
            <a:ext cx="4206240" cy="0"/>
          </a:xfrm>
          <a:prstGeom prst="line">
            <a:avLst/>
          </a:prstGeom>
          <a:noFill/>
          <a:ln w="8890">
            <a:solidFill>
              <a:srgbClr val="B8AEA5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822960" y="2450592"/>
            <a:ext cx="4480560" cy="68580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algn="l" indent="0" marL="0">
              <a:lnSpc>
                <a:spcPct val="95000"/>
              </a:lnSpc>
              <a:buNone/>
            </a:pPr>
            <a:r>
              <a:rPr lang="en-US" sz="1320" dirty="0">
                <a:solidFill>
                  <a:srgbClr val="252525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Vite와 TypeScript 기반 화면 구현</a:t>
            </a:r>
            <a:endParaRPr lang="en-US" sz="1320" dirty="0"/>
          </a:p>
          <a:p>
            <a:pPr algn="l" indent="0" marL="0">
              <a:lnSpc>
                <a:spcPct val="95000"/>
              </a:lnSpc>
              <a:buNone/>
            </a:pPr>
            <a:r>
              <a:rPr lang="en-US" sz="1320" dirty="0">
                <a:solidFill>
                  <a:srgbClr val="252525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API 연동과 시각화 처리</a:t>
            </a:r>
            <a:endParaRPr lang="en-US" sz="1320" dirty="0"/>
          </a:p>
        </p:txBody>
      </p:sp>
      <p:sp>
        <p:nvSpPr>
          <p:cNvPr id="7" name="Text 5"/>
          <p:cNvSpPr/>
          <p:nvPr/>
        </p:nvSpPr>
        <p:spPr>
          <a:xfrm>
            <a:off x="6172200" y="1783080"/>
            <a:ext cx="2011680" cy="25603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algn="l" indent="0" marL="0">
              <a:lnSpc>
                <a:spcPct val="95000"/>
              </a:lnSpc>
              <a:buNone/>
            </a:pPr>
            <a:r>
              <a:rPr lang="en-US" sz="1400" b="1" dirty="0">
                <a:solidFill>
                  <a:srgbClr val="2F5F5B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백엔드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6172200" y="2176272"/>
            <a:ext cx="4206240" cy="0"/>
          </a:xfrm>
          <a:prstGeom prst="line">
            <a:avLst/>
          </a:prstGeom>
          <a:noFill/>
          <a:ln w="8890">
            <a:solidFill>
              <a:srgbClr val="B8AEA5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6172200" y="2450592"/>
            <a:ext cx="4480560" cy="68580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algn="l" indent="0" marL="0">
              <a:lnSpc>
                <a:spcPct val="95000"/>
              </a:lnSpc>
              <a:buNone/>
            </a:pPr>
            <a:r>
              <a:rPr lang="en-US" sz="1320" dirty="0">
                <a:solidFill>
                  <a:srgbClr val="252525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FastAPI 기반 API 설계·구현</a:t>
            </a:r>
            <a:endParaRPr lang="en-US" sz="1320" dirty="0"/>
          </a:p>
          <a:p>
            <a:pPr algn="l" indent="0" marL="0">
              <a:lnSpc>
                <a:spcPct val="95000"/>
              </a:lnSpc>
              <a:buNone/>
            </a:pPr>
            <a:r>
              <a:rPr lang="en-US" sz="1320" dirty="0">
                <a:solidFill>
                  <a:srgbClr val="252525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KRX·NAVER 데이터 연동</a:t>
            </a:r>
            <a:endParaRPr lang="en-US" sz="1320" dirty="0"/>
          </a:p>
        </p:txBody>
      </p:sp>
      <p:sp>
        <p:nvSpPr>
          <p:cNvPr id="10" name="Text 8"/>
          <p:cNvSpPr/>
          <p:nvPr/>
        </p:nvSpPr>
        <p:spPr>
          <a:xfrm>
            <a:off x="822960" y="3657600"/>
            <a:ext cx="2011680" cy="25603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algn="l" indent="0" marL="0">
              <a:lnSpc>
                <a:spcPct val="95000"/>
              </a:lnSpc>
              <a:buNone/>
            </a:pPr>
            <a:r>
              <a:rPr lang="en-US" sz="1400" b="1" dirty="0">
                <a:solidFill>
                  <a:srgbClr val="2F5F5B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데이터 분석</a:t>
            </a:r>
            <a:endParaRPr lang="en-US" sz="1400" dirty="0"/>
          </a:p>
        </p:txBody>
      </p:sp>
      <p:sp>
        <p:nvSpPr>
          <p:cNvPr id="11" name="Shape 9"/>
          <p:cNvSpPr/>
          <p:nvPr/>
        </p:nvSpPr>
        <p:spPr>
          <a:xfrm>
            <a:off x="822960" y="4050792"/>
            <a:ext cx="4206240" cy="0"/>
          </a:xfrm>
          <a:prstGeom prst="line">
            <a:avLst/>
          </a:prstGeom>
          <a:noFill/>
          <a:ln w="8890">
            <a:solidFill>
              <a:srgbClr val="B8AEA5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822960" y="4325112"/>
            <a:ext cx="4480560" cy="68580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algn="l" indent="0" marL="0">
              <a:lnSpc>
                <a:spcPct val="95000"/>
              </a:lnSpc>
              <a:buNone/>
            </a:pPr>
            <a:r>
              <a:rPr lang="en-US" sz="1320" dirty="0">
                <a:solidFill>
                  <a:srgbClr val="252525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정량 지표 계산 로직</a:t>
            </a:r>
            <a:endParaRPr lang="en-US" sz="1320" dirty="0"/>
          </a:p>
          <a:p>
            <a:pPr algn="l" indent="0" marL="0">
              <a:lnSpc>
                <a:spcPct val="95000"/>
              </a:lnSpc>
              <a:buNone/>
            </a:pPr>
            <a:r>
              <a:rPr lang="en-US" sz="1320" dirty="0">
                <a:solidFill>
                  <a:srgbClr val="252525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뉴스 감성 분석 통합 및 DB 관리</a:t>
            </a:r>
            <a:endParaRPr lang="en-US" sz="1320" dirty="0"/>
          </a:p>
        </p:txBody>
      </p:sp>
      <p:sp>
        <p:nvSpPr>
          <p:cNvPr id="13" name="Text 11"/>
          <p:cNvSpPr/>
          <p:nvPr/>
        </p:nvSpPr>
        <p:spPr>
          <a:xfrm>
            <a:off x="6172200" y="3657600"/>
            <a:ext cx="2011680" cy="25603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algn="l" indent="0" marL="0">
              <a:lnSpc>
                <a:spcPct val="95000"/>
              </a:lnSpc>
              <a:buNone/>
            </a:pPr>
            <a:r>
              <a:rPr lang="en-US" sz="1400" b="1" dirty="0">
                <a:solidFill>
                  <a:srgbClr val="2F5F5B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프로젝트 리드</a:t>
            </a:r>
            <a:endParaRPr lang="en-US" sz="1400" dirty="0"/>
          </a:p>
        </p:txBody>
      </p:sp>
      <p:sp>
        <p:nvSpPr>
          <p:cNvPr id="14" name="Shape 12"/>
          <p:cNvSpPr/>
          <p:nvPr/>
        </p:nvSpPr>
        <p:spPr>
          <a:xfrm>
            <a:off x="6172200" y="4050792"/>
            <a:ext cx="4206240" cy="0"/>
          </a:xfrm>
          <a:prstGeom prst="line">
            <a:avLst/>
          </a:prstGeom>
          <a:noFill/>
          <a:ln w="8890">
            <a:solidFill>
              <a:srgbClr val="B8AEA5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6172200" y="4325112"/>
            <a:ext cx="4480560" cy="68580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algn="l" indent="0" marL="0">
              <a:lnSpc>
                <a:spcPct val="95000"/>
              </a:lnSpc>
              <a:buNone/>
            </a:pPr>
            <a:r>
              <a:rPr lang="en-US" sz="1320" dirty="0">
                <a:solidFill>
                  <a:srgbClr val="252525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아키텍처와 기술 스택 결정</a:t>
            </a:r>
            <a:endParaRPr lang="en-US" sz="1320" dirty="0"/>
          </a:p>
          <a:p>
            <a:pPr algn="l" indent="0" marL="0">
              <a:lnSpc>
                <a:spcPct val="95000"/>
              </a:lnSpc>
              <a:buNone/>
            </a:pPr>
            <a:r>
              <a:rPr lang="en-US" sz="1320" dirty="0">
                <a:solidFill>
                  <a:srgbClr val="252525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일정 조율과 산출물 관리</a:t>
            </a:r>
            <a:endParaRPr lang="en-US" sz="1320" dirty="0"/>
          </a:p>
        </p:txBody>
      </p:sp>
      <p:sp>
        <p:nvSpPr>
          <p:cNvPr id="16" name="Text 14"/>
          <p:cNvSpPr/>
          <p:nvPr/>
        </p:nvSpPr>
        <p:spPr>
          <a:xfrm>
            <a:off x="11201400" y="6382512"/>
            <a:ext cx="4572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50" dirty="0">
                <a:solidFill>
                  <a:srgbClr val="6C625B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05</a:t>
            </a:r>
            <a:endParaRPr lang="en-US" sz="750" dirty="0"/>
          </a:p>
        </p:txBody>
      </p:sp>
      <p:sp>
        <p:nvSpPr>
          <p:cNvPr id="17" name="Shape 15"/>
          <p:cNvSpPr/>
          <p:nvPr/>
        </p:nvSpPr>
        <p:spPr>
          <a:xfrm>
            <a:off x="685800" y="6272784"/>
            <a:ext cx="10287000" cy="0"/>
          </a:xfrm>
          <a:prstGeom prst="line">
            <a:avLst/>
          </a:prstGeom>
          <a:noFill/>
          <a:ln w="6985">
            <a:solidFill>
              <a:srgbClr val="B8AEA5"/>
            </a:solidFill>
            <a:prstDash val="solid"/>
          </a:ln>
        </p:spPr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7F1E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85800" y="475488"/>
            <a:ext cx="96012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252525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프로젝트 수행 과정</a:t>
            </a:r>
            <a:endParaRPr lang="en-US" sz="2500" dirty="0"/>
          </a:p>
        </p:txBody>
      </p:sp>
      <p:sp>
        <p:nvSpPr>
          <p:cNvPr id="3" name="Shape 1"/>
          <p:cNvSpPr/>
          <p:nvPr/>
        </p:nvSpPr>
        <p:spPr>
          <a:xfrm>
            <a:off x="685800" y="1024128"/>
            <a:ext cx="10789920" cy="0"/>
          </a:xfrm>
          <a:prstGeom prst="line">
            <a:avLst/>
          </a:prstGeom>
          <a:noFill/>
          <a:ln w="10160">
            <a:solidFill>
              <a:srgbClr val="252525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960120" y="1965960"/>
            <a:ext cx="457200" cy="219456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algn="l" indent="0" marL="0">
              <a:lnSpc>
                <a:spcPct val="95000"/>
              </a:lnSpc>
              <a:buNone/>
            </a:pPr>
            <a:r>
              <a:rPr lang="en-US" sz="1000" b="1" dirty="0">
                <a:solidFill>
                  <a:srgbClr val="C77B45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01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960120" y="2331720"/>
            <a:ext cx="1737360" cy="29260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algn="l" indent="0" marL="0">
              <a:lnSpc>
                <a:spcPct val="95000"/>
              </a:lnSpc>
              <a:buNone/>
            </a:pPr>
            <a:r>
              <a:rPr lang="en-US" sz="1500" b="1" dirty="0">
                <a:solidFill>
                  <a:srgbClr val="252525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기획·설계</a:t>
            </a:r>
            <a:endParaRPr lang="en-US" sz="1500" dirty="0"/>
          </a:p>
        </p:txBody>
      </p:sp>
      <p:sp>
        <p:nvSpPr>
          <p:cNvPr id="6" name="Text 4"/>
          <p:cNvSpPr/>
          <p:nvPr/>
        </p:nvSpPr>
        <p:spPr>
          <a:xfrm>
            <a:off x="960120" y="2880360"/>
            <a:ext cx="1874520" cy="96012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algn="l" indent="0" marL="0">
              <a:lnSpc>
                <a:spcPct val="95000"/>
              </a:lnSpc>
              <a:buNone/>
            </a:pPr>
            <a:r>
              <a:rPr lang="en-US" sz="1250" dirty="0">
                <a:solidFill>
                  <a:srgbClr val="6C625B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요구사항 정의</a:t>
            </a:r>
            <a:endParaRPr lang="en-US" sz="1250" dirty="0"/>
          </a:p>
          <a:p>
            <a:pPr algn="l" indent="0" marL="0">
              <a:lnSpc>
                <a:spcPct val="95000"/>
              </a:lnSpc>
              <a:buNone/>
            </a:pPr>
            <a:r>
              <a:rPr lang="en-US" sz="1250" dirty="0">
                <a:solidFill>
                  <a:srgbClr val="6C625B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기능 명세</a:t>
            </a:r>
            <a:endParaRPr lang="en-US" sz="1250" dirty="0"/>
          </a:p>
          <a:p>
            <a:pPr algn="l" indent="0" marL="0">
              <a:lnSpc>
                <a:spcPct val="95000"/>
              </a:lnSpc>
              <a:buNone/>
            </a:pPr>
            <a:r>
              <a:rPr lang="en-US" sz="1250" dirty="0">
                <a:solidFill>
                  <a:srgbClr val="6C625B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아키텍처 설계</a:t>
            </a:r>
            <a:endParaRPr lang="en-US" sz="1250" dirty="0"/>
          </a:p>
        </p:txBody>
      </p:sp>
      <p:sp>
        <p:nvSpPr>
          <p:cNvPr id="7" name="Shape 5"/>
          <p:cNvSpPr/>
          <p:nvPr/>
        </p:nvSpPr>
        <p:spPr>
          <a:xfrm>
            <a:off x="2926080" y="2487168"/>
            <a:ext cx="621792" cy="0"/>
          </a:xfrm>
          <a:prstGeom prst="line">
            <a:avLst/>
          </a:prstGeom>
          <a:noFill/>
          <a:ln w="12700">
            <a:solidFill>
              <a:srgbClr val="B8AEA5"/>
            </a:solidFill>
            <a:prstDash val="solid"/>
            <a:tailEnd type="triangle"/>
          </a:ln>
        </p:spPr>
      </p:sp>
      <p:sp>
        <p:nvSpPr>
          <p:cNvPr id="8" name="Text 6"/>
          <p:cNvSpPr/>
          <p:nvPr/>
        </p:nvSpPr>
        <p:spPr>
          <a:xfrm>
            <a:off x="3703320" y="1965960"/>
            <a:ext cx="457200" cy="219456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algn="l" indent="0" marL="0">
              <a:lnSpc>
                <a:spcPct val="95000"/>
              </a:lnSpc>
              <a:buNone/>
            </a:pPr>
            <a:r>
              <a:rPr lang="en-US" sz="1000" b="1" dirty="0">
                <a:solidFill>
                  <a:srgbClr val="C77B45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02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3703320" y="2331720"/>
            <a:ext cx="1737360" cy="29260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algn="l" indent="0" marL="0">
              <a:lnSpc>
                <a:spcPct val="95000"/>
              </a:lnSpc>
              <a:buNone/>
            </a:pPr>
            <a:r>
              <a:rPr lang="en-US" sz="1500" b="1" dirty="0">
                <a:solidFill>
                  <a:srgbClr val="252525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구현·통합</a:t>
            </a:r>
            <a:endParaRPr lang="en-US" sz="1500" dirty="0"/>
          </a:p>
        </p:txBody>
      </p:sp>
      <p:sp>
        <p:nvSpPr>
          <p:cNvPr id="10" name="Text 8"/>
          <p:cNvSpPr/>
          <p:nvPr/>
        </p:nvSpPr>
        <p:spPr>
          <a:xfrm>
            <a:off x="3703320" y="2880360"/>
            <a:ext cx="1874520" cy="96012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algn="l" indent="0" marL="0">
              <a:lnSpc>
                <a:spcPct val="95000"/>
              </a:lnSpc>
              <a:buNone/>
            </a:pPr>
            <a:r>
              <a:rPr lang="en-US" sz="1250" dirty="0">
                <a:solidFill>
                  <a:srgbClr val="6C625B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백엔드 API</a:t>
            </a:r>
            <a:endParaRPr lang="en-US" sz="1250" dirty="0"/>
          </a:p>
          <a:p>
            <a:pPr algn="l" indent="0" marL="0">
              <a:lnSpc>
                <a:spcPct val="95000"/>
              </a:lnSpc>
              <a:buNone/>
            </a:pPr>
            <a:r>
              <a:rPr lang="en-US" sz="1250" dirty="0">
                <a:solidFill>
                  <a:srgbClr val="6C625B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프론트엔드 화면</a:t>
            </a:r>
            <a:endParaRPr lang="en-US" sz="1250" dirty="0"/>
          </a:p>
          <a:p>
            <a:pPr algn="l" indent="0" marL="0">
              <a:lnSpc>
                <a:spcPct val="95000"/>
              </a:lnSpc>
              <a:buNone/>
            </a:pPr>
            <a:r>
              <a:rPr lang="en-US" sz="1250" dirty="0">
                <a:solidFill>
                  <a:srgbClr val="6C625B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SQLite 연동</a:t>
            </a:r>
            <a:endParaRPr lang="en-US" sz="1250" dirty="0"/>
          </a:p>
        </p:txBody>
      </p:sp>
      <p:sp>
        <p:nvSpPr>
          <p:cNvPr id="11" name="Shape 9"/>
          <p:cNvSpPr/>
          <p:nvPr/>
        </p:nvSpPr>
        <p:spPr>
          <a:xfrm>
            <a:off x="5669280" y="2487168"/>
            <a:ext cx="621792" cy="0"/>
          </a:xfrm>
          <a:prstGeom prst="line">
            <a:avLst/>
          </a:prstGeom>
          <a:noFill/>
          <a:ln w="12700">
            <a:solidFill>
              <a:srgbClr val="B8AEA5"/>
            </a:solidFill>
            <a:prstDash val="solid"/>
            <a:tailEnd type="triangle"/>
          </a:ln>
        </p:spPr>
      </p:sp>
      <p:sp>
        <p:nvSpPr>
          <p:cNvPr id="12" name="Text 10"/>
          <p:cNvSpPr/>
          <p:nvPr/>
        </p:nvSpPr>
        <p:spPr>
          <a:xfrm>
            <a:off x="6446520" y="1965960"/>
            <a:ext cx="457200" cy="219456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algn="l" indent="0" marL="0">
              <a:lnSpc>
                <a:spcPct val="95000"/>
              </a:lnSpc>
              <a:buNone/>
            </a:pPr>
            <a:r>
              <a:rPr lang="en-US" sz="1000" b="1" dirty="0">
                <a:solidFill>
                  <a:srgbClr val="C77B45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03</a:t>
            </a:r>
            <a:endParaRPr lang="en-US" sz="1000" dirty="0"/>
          </a:p>
        </p:txBody>
      </p:sp>
      <p:sp>
        <p:nvSpPr>
          <p:cNvPr id="13" name="Text 11"/>
          <p:cNvSpPr/>
          <p:nvPr/>
        </p:nvSpPr>
        <p:spPr>
          <a:xfrm>
            <a:off x="6446520" y="2331720"/>
            <a:ext cx="1737360" cy="29260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algn="l" indent="0" marL="0">
              <a:lnSpc>
                <a:spcPct val="95000"/>
              </a:lnSpc>
              <a:buNone/>
            </a:pPr>
            <a:r>
              <a:rPr lang="en-US" sz="1500" b="1" dirty="0">
                <a:solidFill>
                  <a:srgbClr val="252525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테스트·검증</a:t>
            </a:r>
            <a:endParaRPr lang="en-US" sz="1500" dirty="0"/>
          </a:p>
        </p:txBody>
      </p:sp>
      <p:sp>
        <p:nvSpPr>
          <p:cNvPr id="14" name="Text 12"/>
          <p:cNvSpPr/>
          <p:nvPr/>
        </p:nvSpPr>
        <p:spPr>
          <a:xfrm>
            <a:off x="6446520" y="2880360"/>
            <a:ext cx="1874520" cy="96012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algn="l" indent="0" marL="0">
              <a:lnSpc>
                <a:spcPct val="95000"/>
              </a:lnSpc>
              <a:buNone/>
            </a:pPr>
            <a:r>
              <a:rPr lang="en-US" sz="1250" dirty="0">
                <a:solidFill>
                  <a:srgbClr val="6C625B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단위 테스트</a:t>
            </a:r>
            <a:endParaRPr lang="en-US" sz="1250" dirty="0"/>
          </a:p>
          <a:p>
            <a:pPr algn="l" indent="0" marL="0">
              <a:lnSpc>
                <a:spcPct val="95000"/>
              </a:lnSpc>
              <a:buNone/>
            </a:pPr>
            <a:r>
              <a:rPr lang="en-US" sz="1250" dirty="0">
                <a:solidFill>
                  <a:srgbClr val="6C625B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통합 테스트</a:t>
            </a:r>
            <a:endParaRPr lang="en-US" sz="1250" dirty="0"/>
          </a:p>
          <a:p>
            <a:pPr algn="l" indent="0" marL="0">
              <a:lnSpc>
                <a:spcPct val="95000"/>
              </a:lnSpc>
              <a:buNone/>
            </a:pPr>
            <a:r>
              <a:rPr lang="en-US" sz="1250" dirty="0">
                <a:solidFill>
                  <a:srgbClr val="6C625B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버그 수정</a:t>
            </a:r>
            <a:endParaRPr lang="en-US" sz="1250" dirty="0"/>
          </a:p>
        </p:txBody>
      </p:sp>
      <p:sp>
        <p:nvSpPr>
          <p:cNvPr id="15" name="Shape 13"/>
          <p:cNvSpPr/>
          <p:nvPr/>
        </p:nvSpPr>
        <p:spPr>
          <a:xfrm>
            <a:off x="8412480" y="2487168"/>
            <a:ext cx="621792" cy="0"/>
          </a:xfrm>
          <a:prstGeom prst="line">
            <a:avLst/>
          </a:prstGeom>
          <a:noFill/>
          <a:ln w="12700">
            <a:solidFill>
              <a:srgbClr val="B8AEA5"/>
            </a:solidFill>
            <a:prstDash val="solid"/>
            <a:tailEnd type="triangle"/>
          </a:ln>
        </p:spPr>
      </p:sp>
      <p:sp>
        <p:nvSpPr>
          <p:cNvPr id="16" name="Text 14"/>
          <p:cNvSpPr/>
          <p:nvPr/>
        </p:nvSpPr>
        <p:spPr>
          <a:xfrm>
            <a:off x="9189720" y="1965960"/>
            <a:ext cx="457200" cy="219456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algn="l" indent="0" marL="0">
              <a:lnSpc>
                <a:spcPct val="95000"/>
              </a:lnSpc>
              <a:buNone/>
            </a:pPr>
            <a:r>
              <a:rPr lang="en-US" sz="1000" b="1" dirty="0">
                <a:solidFill>
                  <a:srgbClr val="C77B45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04</a:t>
            </a:r>
            <a:endParaRPr lang="en-US" sz="1000" dirty="0"/>
          </a:p>
        </p:txBody>
      </p:sp>
      <p:sp>
        <p:nvSpPr>
          <p:cNvPr id="17" name="Text 15"/>
          <p:cNvSpPr/>
          <p:nvPr/>
        </p:nvSpPr>
        <p:spPr>
          <a:xfrm>
            <a:off x="9189720" y="2331720"/>
            <a:ext cx="1737360" cy="29260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algn="l" indent="0" marL="0">
              <a:lnSpc>
                <a:spcPct val="95000"/>
              </a:lnSpc>
              <a:buNone/>
            </a:pPr>
            <a:r>
              <a:rPr lang="en-US" sz="1500" b="1" dirty="0">
                <a:solidFill>
                  <a:srgbClr val="252525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배포·운영</a:t>
            </a:r>
            <a:endParaRPr lang="en-US" sz="1500" dirty="0"/>
          </a:p>
        </p:txBody>
      </p:sp>
      <p:sp>
        <p:nvSpPr>
          <p:cNvPr id="18" name="Text 16"/>
          <p:cNvSpPr/>
          <p:nvPr/>
        </p:nvSpPr>
        <p:spPr>
          <a:xfrm>
            <a:off x="9189720" y="2880360"/>
            <a:ext cx="1874520" cy="96012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algn="l" indent="0" marL="0">
              <a:lnSpc>
                <a:spcPct val="95000"/>
              </a:lnSpc>
              <a:buNone/>
            </a:pPr>
            <a:r>
              <a:rPr lang="en-US" sz="1250" dirty="0">
                <a:solidFill>
                  <a:srgbClr val="6C625B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초기 배포</a:t>
            </a:r>
            <a:endParaRPr lang="en-US" sz="1250" dirty="0"/>
          </a:p>
          <a:p>
            <a:pPr algn="l" indent="0" marL="0">
              <a:lnSpc>
                <a:spcPct val="95000"/>
              </a:lnSpc>
              <a:buNone/>
            </a:pPr>
            <a:r>
              <a:rPr lang="en-US" sz="1250" dirty="0">
                <a:solidFill>
                  <a:srgbClr val="6C625B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성능 확인</a:t>
            </a:r>
            <a:endParaRPr lang="en-US" sz="1250" dirty="0"/>
          </a:p>
          <a:p>
            <a:pPr algn="l" indent="0" marL="0">
              <a:lnSpc>
                <a:spcPct val="95000"/>
              </a:lnSpc>
              <a:buNone/>
            </a:pPr>
            <a:r>
              <a:rPr lang="en-US" sz="1250" dirty="0">
                <a:solidFill>
                  <a:srgbClr val="6C625B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피드백 정리</a:t>
            </a:r>
            <a:endParaRPr lang="en-US" sz="1250" dirty="0"/>
          </a:p>
        </p:txBody>
      </p:sp>
      <p:sp>
        <p:nvSpPr>
          <p:cNvPr id="19" name="Text 17"/>
          <p:cNvSpPr/>
          <p:nvPr/>
        </p:nvSpPr>
        <p:spPr>
          <a:xfrm>
            <a:off x="960120" y="4800600"/>
            <a:ext cx="9784080" cy="34747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algn="l" indent="0" marL="0">
              <a:lnSpc>
                <a:spcPct val="95000"/>
              </a:lnSpc>
              <a:buNone/>
            </a:pPr>
            <a:r>
              <a:rPr lang="en-US" sz="1500" b="1" dirty="0">
                <a:solidFill>
                  <a:srgbClr val="2F5F5B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각 단계의 산출물: 기능 정의서, API 계약, 테스트 계획, 실행 가이드</a:t>
            </a:r>
            <a:endParaRPr lang="en-US" sz="1500" dirty="0"/>
          </a:p>
        </p:txBody>
      </p:sp>
      <p:sp>
        <p:nvSpPr>
          <p:cNvPr id="20" name="Text 18"/>
          <p:cNvSpPr/>
          <p:nvPr/>
        </p:nvSpPr>
        <p:spPr>
          <a:xfrm>
            <a:off x="11201400" y="6382512"/>
            <a:ext cx="4572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50" dirty="0">
                <a:solidFill>
                  <a:srgbClr val="6C625B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06</a:t>
            </a:r>
            <a:endParaRPr lang="en-US" sz="750" dirty="0"/>
          </a:p>
        </p:txBody>
      </p:sp>
      <p:sp>
        <p:nvSpPr>
          <p:cNvPr id="21" name="Shape 19"/>
          <p:cNvSpPr/>
          <p:nvPr/>
        </p:nvSpPr>
        <p:spPr>
          <a:xfrm>
            <a:off x="685800" y="6272784"/>
            <a:ext cx="10287000" cy="0"/>
          </a:xfrm>
          <a:prstGeom prst="line">
            <a:avLst/>
          </a:prstGeom>
          <a:noFill/>
          <a:ln w="6985">
            <a:solidFill>
              <a:srgbClr val="B8AEA5"/>
            </a:solidFill>
            <a:prstDash val="solid"/>
          </a:ln>
        </p:spPr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7F1E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85800" y="475488"/>
            <a:ext cx="96012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252525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결과물 및 시연</a:t>
            </a:r>
            <a:endParaRPr lang="en-US" sz="2500" dirty="0"/>
          </a:p>
        </p:txBody>
      </p:sp>
      <p:sp>
        <p:nvSpPr>
          <p:cNvPr id="3" name="Shape 1"/>
          <p:cNvSpPr/>
          <p:nvPr/>
        </p:nvSpPr>
        <p:spPr>
          <a:xfrm>
            <a:off x="685800" y="1024128"/>
            <a:ext cx="10789920" cy="0"/>
          </a:xfrm>
          <a:prstGeom prst="line">
            <a:avLst/>
          </a:prstGeom>
          <a:noFill/>
          <a:ln w="10160">
            <a:solidFill>
              <a:srgbClr val="252525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704088" y="1152144"/>
            <a:ext cx="99669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50" dirty="0">
                <a:solidFill>
                  <a:srgbClr val="6C625B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발표에서 보여줄 항목만 남기고, 과장된 홍보 문구는 정리했습니다.</a:t>
            </a:r>
            <a:endParaRPr lang="en-US" sz="1150" dirty="0"/>
          </a:p>
        </p:txBody>
      </p:sp>
      <p:sp>
        <p:nvSpPr>
          <p:cNvPr id="5" name="Text 3"/>
          <p:cNvSpPr/>
          <p:nvPr/>
        </p:nvSpPr>
        <p:spPr>
          <a:xfrm>
            <a:off x="960120" y="1783080"/>
            <a:ext cx="2011680" cy="29260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algn="l" indent="0" marL="0">
              <a:lnSpc>
                <a:spcPct val="95000"/>
              </a:lnSpc>
              <a:buNone/>
            </a:pPr>
            <a:r>
              <a:rPr lang="en-US" sz="1500" b="1" dirty="0">
                <a:solidFill>
                  <a:srgbClr val="2F5F5B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구현 결과</a:t>
            </a:r>
            <a:endParaRPr lang="en-US" sz="1500" dirty="0"/>
          </a:p>
        </p:txBody>
      </p:sp>
      <p:sp>
        <p:nvSpPr>
          <p:cNvPr id="6" name="Text 4"/>
          <p:cNvSpPr/>
          <p:nvPr/>
        </p:nvSpPr>
        <p:spPr>
          <a:xfrm>
            <a:off x="3063240" y="1801368"/>
            <a:ext cx="5852160" cy="27432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algn="l" indent="0" marL="0">
              <a:lnSpc>
                <a:spcPct val="95000"/>
              </a:lnSpc>
              <a:buNone/>
            </a:pPr>
            <a:r>
              <a:rPr lang="en-US" sz="1350" dirty="0">
                <a:solidFill>
                  <a:srgbClr val="252525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개발된 기능과 시스템 구성</a:t>
            </a:r>
            <a:endParaRPr lang="en-US" sz="1350" dirty="0"/>
          </a:p>
        </p:txBody>
      </p:sp>
      <p:sp>
        <p:nvSpPr>
          <p:cNvPr id="7" name="Shape 5"/>
          <p:cNvSpPr/>
          <p:nvPr/>
        </p:nvSpPr>
        <p:spPr>
          <a:xfrm>
            <a:off x="960120" y="2286000"/>
            <a:ext cx="9966960" cy="0"/>
          </a:xfrm>
          <a:prstGeom prst="line">
            <a:avLst/>
          </a:prstGeom>
          <a:noFill/>
          <a:ln w="7620">
            <a:solidFill>
              <a:srgbClr val="B8AEA5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960120" y="2743200"/>
            <a:ext cx="2011680" cy="29260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algn="l" indent="0" marL="0">
              <a:lnSpc>
                <a:spcPct val="95000"/>
              </a:lnSpc>
              <a:buNone/>
            </a:pPr>
            <a:r>
              <a:rPr lang="en-US" sz="1500" b="1" dirty="0">
                <a:solidFill>
                  <a:srgbClr val="2F5F5B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실행 화면</a:t>
            </a:r>
            <a:endParaRPr lang="en-US" sz="1500" dirty="0"/>
          </a:p>
        </p:txBody>
      </p:sp>
      <p:sp>
        <p:nvSpPr>
          <p:cNvPr id="9" name="Text 7"/>
          <p:cNvSpPr/>
          <p:nvPr/>
        </p:nvSpPr>
        <p:spPr>
          <a:xfrm>
            <a:off x="3063240" y="2761488"/>
            <a:ext cx="5852160" cy="27432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algn="l" indent="0" marL="0">
              <a:lnSpc>
                <a:spcPct val="95000"/>
              </a:lnSpc>
              <a:buNone/>
            </a:pPr>
            <a:r>
              <a:rPr lang="en-US" sz="1350" dirty="0">
                <a:solidFill>
                  <a:srgbClr val="252525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웹 애플리케이션 주요 화면</a:t>
            </a:r>
            <a:endParaRPr lang="en-US" sz="1350" dirty="0"/>
          </a:p>
        </p:txBody>
      </p:sp>
      <p:sp>
        <p:nvSpPr>
          <p:cNvPr id="10" name="Shape 8"/>
          <p:cNvSpPr/>
          <p:nvPr/>
        </p:nvSpPr>
        <p:spPr>
          <a:xfrm>
            <a:off x="960120" y="3246120"/>
            <a:ext cx="9966960" cy="0"/>
          </a:xfrm>
          <a:prstGeom prst="line">
            <a:avLst/>
          </a:prstGeom>
          <a:noFill/>
          <a:ln w="7620">
            <a:solidFill>
              <a:srgbClr val="B8AEA5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960120" y="3703320"/>
            <a:ext cx="2011680" cy="29260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algn="l" indent="0" marL="0">
              <a:lnSpc>
                <a:spcPct val="95000"/>
              </a:lnSpc>
              <a:buNone/>
            </a:pPr>
            <a:r>
              <a:rPr lang="en-US" sz="1500" b="1" dirty="0">
                <a:solidFill>
                  <a:srgbClr val="2F5F5B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테스트 결과</a:t>
            </a:r>
            <a:endParaRPr lang="en-US" sz="1500" dirty="0"/>
          </a:p>
        </p:txBody>
      </p:sp>
      <p:sp>
        <p:nvSpPr>
          <p:cNvPr id="12" name="Text 10"/>
          <p:cNvSpPr/>
          <p:nvPr/>
        </p:nvSpPr>
        <p:spPr>
          <a:xfrm>
            <a:off x="3063240" y="3721608"/>
            <a:ext cx="5852160" cy="27432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algn="l" indent="0" marL="0">
              <a:lnSpc>
                <a:spcPct val="95000"/>
              </a:lnSpc>
              <a:buNone/>
            </a:pPr>
            <a:r>
              <a:rPr lang="en-US" sz="1350" dirty="0">
                <a:solidFill>
                  <a:srgbClr val="252525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주요 기능 테스트 보고서</a:t>
            </a:r>
            <a:endParaRPr lang="en-US" sz="1350" dirty="0"/>
          </a:p>
        </p:txBody>
      </p:sp>
      <p:sp>
        <p:nvSpPr>
          <p:cNvPr id="13" name="Shape 11"/>
          <p:cNvSpPr/>
          <p:nvPr/>
        </p:nvSpPr>
        <p:spPr>
          <a:xfrm>
            <a:off x="960120" y="4206240"/>
            <a:ext cx="9966960" cy="0"/>
          </a:xfrm>
          <a:prstGeom prst="line">
            <a:avLst/>
          </a:prstGeom>
          <a:noFill/>
          <a:ln w="7620">
            <a:solidFill>
              <a:srgbClr val="B8AEA5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960120" y="4663440"/>
            <a:ext cx="2011680" cy="29260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algn="l" indent="0" marL="0">
              <a:lnSpc>
                <a:spcPct val="95000"/>
              </a:lnSpc>
              <a:buNone/>
            </a:pPr>
            <a:r>
              <a:rPr lang="en-US" sz="1500" b="1" dirty="0">
                <a:solidFill>
                  <a:srgbClr val="2F5F5B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시연 영상</a:t>
            </a:r>
            <a:endParaRPr lang="en-US" sz="1500" dirty="0"/>
          </a:p>
        </p:txBody>
      </p:sp>
      <p:sp>
        <p:nvSpPr>
          <p:cNvPr id="15" name="Text 13"/>
          <p:cNvSpPr/>
          <p:nvPr/>
        </p:nvSpPr>
        <p:spPr>
          <a:xfrm>
            <a:off x="3063240" y="4681728"/>
            <a:ext cx="5852160" cy="27432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algn="l" indent="0" marL="0">
              <a:lnSpc>
                <a:spcPct val="95000"/>
              </a:lnSpc>
              <a:buNone/>
            </a:pPr>
            <a:r>
              <a:rPr lang="en-US" sz="1350" dirty="0">
                <a:solidFill>
                  <a:srgbClr val="252525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핵심 기능 사용 흐름</a:t>
            </a:r>
            <a:endParaRPr lang="en-US" sz="1350" dirty="0"/>
          </a:p>
        </p:txBody>
      </p:sp>
      <p:sp>
        <p:nvSpPr>
          <p:cNvPr id="16" name="Shape 14"/>
          <p:cNvSpPr/>
          <p:nvPr/>
        </p:nvSpPr>
        <p:spPr>
          <a:xfrm>
            <a:off x="960120" y="5166360"/>
            <a:ext cx="9966960" cy="0"/>
          </a:xfrm>
          <a:prstGeom prst="line">
            <a:avLst/>
          </a:prstGeom>
          <a:noFill/>
          <a:ln w="7620">
            <a:solidFill>
              <a:srgbClr val="B8AEA5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960120" y="5532120"/>
            <a:ext cx="9784080" cy="32004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algn="l" indent="0" marL="0">
              <a:lnSpc>
                <a:spcPct val="95000"/>
              </a:lnSpc>
              <a:buNone/>
            </a:pPr>
            <a:r>
              <a:rPr lang="en-US" sz="1250" dirty="0">
                <a:solidFill>
                  <a:srgbClr val="6C625B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발표 시 실제 화면 캡처 또는 짧은 녹화 영상을 이 슬라이드 다음에 배치하면 자연스럽습니다.</a:t>
            </a:r>
            <a:endParaRPr lang="en-US" sz="1250" dirty="0"/>
          </a:p>
        </p:txBody>
      </p:sp>
      <p:sp>
        <p:nvSpPr>
          <p:cNvPr id="18" name="Text 16"/>
          <p:cNvSpPr/>
          <p:nvPr/>
        </p:nvSpPr>
        <p:spPr>
          <a:xfrm>
            <a:off x="11201400" y="6382512"/>
            <a:ext cx="4572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50" dirty="0">
                <a:solidFill>
                  <a:srgbClr val="6C625B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07</a:t>
            </a:r>
            <a:endParaRPr lang="en-US" sz="750" dirty="0"/>
          </a:p>
        </p:txBody>
      </p:sp>
      <p:sp>
        <p:nvSpPr>
          <p:cNvPr id="19" name="Shape 17"/>
          <p:cNvSpPr/>
          <p:nvPr/>
        </p:nvSpPr>
        <p:spPr>
          <a:xfrm>
            <a:off x="685800" y="6272784"/>
            <a:ext cx="10287000" cy="0"/>
          </a:xfrm>
          <a:prstGeom prst="line">
            <a:avLst/>
          </a:prstGeom>
          <a:noFill/>
          <a:ln w="6985">
            <a:solidFill>
              <a:srgbClr val="B8AEA5"/>
            </a:solidFill>
            <a:prstDash val="solid"/>
          </a:ln>
        </p:spPr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7F1E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85800" y="475488"/>
            <a:ext cx="96012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252525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핵심 구현 범위</a:t>
            </a:r>
            <a:endParaRPr lang="en-US" sz="2500" dirty="0"/>
          </a:p>
        </p:txBody>
      </p:sp>
      <p:sp>
        <p:nvSpPr>
          <p:cNvPr id="3" name="Shape 1"/>
          <p:cNvSpPr/>
          <p:nvPr/>
        </p:nvSpPr>
        <p:spPr>
          <a:xfrm>
            <a:off x="685800" y="1024128"/>
            <a:ext cx="10789920" cy="0"/>
          </a:xfrm>
          <a:prstGeom prst="line">
            <a:avLst/>
          </a:prstGeom>
          <a:noFill/>
          <a:ln w="10160">
            <a:solidFill>
              <a:srgbClr val="252525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868680" y="1783080"/>
            <a:ext cx="2468880" cy="27432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algn="l" indent="0" marL="0">
              <a:lnSpc>
                <a:spcPct val="95000"/>
              </a:lnSpc>
              <a:buNone/>
            </a:pPr>
            <a:r>
              <a:rPr lang="en-US" sz="1450" b="1" dirty="0">
                <a:solidFill>
                  <a:srgbClr val="2F5F5B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투자 조건 입력</a:t>
            </a:r>
            <a:endParaRPr lang="en-US" sz="1450" dirty="0"/>
          </a:p>
        </p:txBody>
      </p:sp>
      <p:sp>
        <p:nvSpPr>
          <p:cNvPr id="5" name="Text 3"/>
          <p:cNvSpPr/>
          <p:nvPr/>
        </p:nvSpPr>
        <p:spPr>
          <a:xfrm>
            <a:off x="868680" y="2286000"/>
            <a:ext cx="4434840" cy="73152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algn="l" indent="0" marL="0">
              <a:lnSpc>
                <a:spcPct val="95000"/>
              </a:lnSpc>
              <a:buNone/>
            </a:pPr>
            <a:r>
              <a:rPr lang="en-US" sz="1320" dirty="0">
                <a:solidFill>
                  <a:srgbClr val="252525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투자금, 기간, 위험 성향, 허용 손실, 선호 자산 유형, 관심 테마 입력</a:t>
            </a:r>
            <a:endParaRPr lang="en-US" sz="1320" dirty="0"/>
          </a:p>
        </p:txBody>
      </p:sp>
      <p:sp>
        <p:nvSpPr>
          <p:cNvPr id="6" name="Text 4"/>
          <p:cNvSpPr/>
          <p:nvPr/>
        </p:nvSpPr>
        <p:spPr>
          <a:xfrm>
            <a:off x="6172200" y="1783080"/>
            <a:ext cx="2468880" cy="27432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algn="l" indent="0" marL="0">
              <a:lnSpc>
                <a:spcPct val="95000"/>
              </a:lnSpc>
              <a:buNone/>
            </a:pPr>
            <a:r>
              <a:rPr lang="en-US" sz="1450" b="1" dirty="0">
                <a:solidFill>
                  <a:srgbClr val="2F5F5B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후보 선별</a:t>
            </a:r>
            <a:endParaRPr lang="en-US" sz="1450" dirty="0"/>
          </a:p>
        </p:txBody>
      </p:sp>
      <p:sp>
        <p:nvSpPr>
          <p:cNvPr id="7" name="Text 5"/>
          <p:cNvSpPr/>
          <p:nvPr/>
        </p:nvSpPr>
        <p:spPr>
          <a:xfrm>
            <a:off x="6172200" y="2286000"/>
            <a:ext cx="4434840" cy="73152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algn="l" indent="0" marL="0">
              <a:lnSpc>
                <a:spcPct val="95000"/>
              </a:lnSpc>
              <a:buNone/>
            </a:pPr>
            <a:r>
              <a:rPr lang="en-US" sz="1320" dirty="0">
                <a:solidFill>
                  <a:srgbClr val="252525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가격·거래 데이터가 유효하고 투자금으로 매수 가능한 ETF를 최대 200개까지 1차 선별</a:t>
            </a:r>
            <a:endParaRPr lang="en-US" sz="1320" dirty="0"/>
          </a:p>
        </p:txBody>
      </p:sp>
      <p:sp>
        <p:nvSpPr>
          <p:cNvPr id="8" name="Text 6"/>
          <p:cNvSpPr/>
          <p:nvPr/>
        </p:nvSpPr>
        <p:spPr>
          <a:xfrm>
            <a:off x="868680" y="3703320"/>
            <a:ext cx="2468880" cy="27432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algn="l" indent="0" marL="0">
              <a:lnSpc>
                <a:spcPct val="95000"/>
              </a:lnSpc>
              <a:buNone/>
            </a:pPr>
            <a:r>
              <a:rPr lang="en-US" sz="1450" b="1" dirty="0">
                <a:solidFill>
                  <a:srgbClr val="2F5F5B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정량 분석</a:t>
            </a:r>
            <a:endParaRPr lang="en-US" sz="1450" dirty="0"/>
          </a:p>
        </p:txBody>
      </p:sp>
      <p:sp>
        <p:nvSpPr>
          <p:cNvPr id="9" name="Text 7"/>
          <p:cNvSpPr/>
          <p:nvPr/>
        </p:nvSpPr>
        <p:spPr>
          <a:xfrm>
            <a:off x="868680" y="4206240"/>
            <a:ext cx="4434840" cy="73152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algn="l" indent="0" marL="0">
              <a:lnSpc>
                <a:spcPct val="95000"/>
              </a:lnSpc>
              <a:buNone/>
            </a:pPr>
            <a:r>
              <a:rPr lang="en-US" sz="1320" dirty="0">
                <a:solidFill>
                  <a:srgbClr val="252525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기간 수익률, 연환산 변동성, MDD, 샤프지수, 평균 거래대금 계산</a:t>
            </a:r>
            <a:endParaRPr lang="en-US" sz="1320" dirty="0"/>
          </a:p>
        </p:txBody>
      </p:sp>
      <p:sp>
        <p:nvSpPr>
          <p:cNvPr id="10" name="Text 8"/>
          <p:cNvSpPr/>
          <p:nvPr/>
        </p:nvSpPr>
        <p:spPr>
          <a:xfrm>
            <a:off x="6172200" y="3703320"/>
            <a:ext cx="2468880" cy="27432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algn="l" indent="0" marL="0">
              <a:lnSpc>
                <a:spcPct val="95000"/>
              </a:lnSpc>
              <a:buNone/>
            </a:pPr>
            <a:r>
              <a:rPr lang="en-US" sz="1450" b="1" dirty="0">
                <a:solidFill>
                  <a:srgbClr val="2F5F5B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뉴스·감성 분석</a:t>
            </a:r>
            <a:endParaRPr lang="en-US" sz="1450" dirty="0"/>
          </a:p>
        </p:txBody>
      </p:sp>
      <p:sp>
        <p:nvSpPr>
          <p:cNvPr id="11" name="Text 9"/>
          <p:cNvSpPr/>
          <p:nvPr/>
        </p:nvSpPr>
        <p:spPr>
          <a:xfrm>
            <a:off x="6172200" y="4206240"/>
            <a:ext cx="4434840" cy="73152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algn="l" indent="0" marL="0">
              <a:lnSpc>
                <a:spcPct val="95000"/>
              </a:lnSpc>
              <a:buNone/>
            </a:pPr>
            <a:r>
              <a:rPr lang="en-US" sz="1320" dirty="0">
                <a:solidFill>
                  <a:srgbClr val="252525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상위 후보의 뉴스에 대해 검증 뉴스 수, 감성 점수, 핵심 이슈, 위험 요인 표시</a:t>
            </a:r>
            <a:endParaRPr lang="en-US" sz="1320" dirty="0"/>
          </a:p>
        </p:txBody>
      </p:sp>
      <p:sp>
        <p:nvSpPr>
          <p:cNvPr id="12" name="Text 10"/>
          <p:cNvSpPr/>
          <p:nvPr/>
        </p:nvSpPr>
        <p:spPr>
          <a:xfrm>
            <a:off x="11201400" y="6382512"/>
            <a:ext cx="4572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50" dirty="0">
                <a:solidFill>
                  <a:srgbClr val="6C625B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08</a:t>
            </a:r>
            <a:endParaRPr lang="en-US" sz="750" dirty="0"/>
          </a:p>
        </p:txBody>
      </p:sp>
      <p:sp>
        <p:nvSpPr>
          <p:cNvPr id="13" name="Shape 11"/>
          <p:cNvSpPr/>
          <p:nvPr/>
        </p:nvSpPr>
        <p:spPr>
          <a:xfrm>
            <a:off x="685800" y="6272784"/>
            <a:ext cx="10287000" cy="0"/>
          </a:xfrm>
          <a:prstGeom prst="line">
            <a:avLst/>
          </a:prstGeom>
          <a:noFill/>
          <a:ln w="6985">
            <a:solidFill>
              <a:srgbClr val="B8AEA5"/>
            </a:solidFill>
            <a:prstDash val="solid"/>
          </a:ln>
        </p:spPr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7F1E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85800" y="475488"/>
            <a:ext cx="96012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252525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투자 조건 입력과 후보 선별</a:t>
            </a:r>
            <a:endParaRPr lang="en-US" sz="2500" dirty="0"/>
          </a:p>
        </p:txBody>
      </p:sp>
      <p:sp>
        <p:nvSpPr>
          <p:cNvPr id="3" name="Shape 1"/>
          <p:cNvSpPr/>
          <p:nvPr/>
        </p:nvSpPr>
        <p:spPr>
          <a:xfrm>
            <a:off x="685800" y="1024128"/>
            <a:ext cx="10789920" cy="0"/>
          </a:xfrm>
          <a:prstGeom prst="line">
            <a:avLst/>
          </a:prstGeom>
          <a:noFill/>
          <a:ln w="10160">
            <a:solidFill>
              <a:srgbClr val="252525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822960" y="1737360"/>
            <a:ext cx="2286000" cy="27432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algn="l" indent="0" marL="0">
              <a:lnSpc>
                <a:spcPct val="95000"/>
              </a:lnSpc>
              <a:buNone/>
            </a:pPr>
            <a:r>
              <a:rPr lang="en-US" sz="1200" b="1" dirty="0">
                <a:solidFill>
                  <a:srgbClr val="2F5F5B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입력 항목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822960" y="2130552"/>
            <a:ext cx="4572000" cy="182880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indent="0" marL="0">
              <a:lnSpc>
                <a:spcPct val="95000"/>
              </a:lnSpc>
              <a:buNone/>
            </a:pPr>
            <a:r>
              <a:rPr lang="en-US" sz="1350" dirty="0">
                <a:solidFill>
                  <a:srgbClr val="252525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· 투자금: 100만 원 ~ 10억 원
</a:t>
            </a:r>
            <a:pPr indent="0" marL="0">
              <a:lnSpc>
                <a:spcPct val="95000"/>
              </a:lnSpc>
              <a:buNone/>
            </a:pPr>
            <a:r>
              <a:rPr lang="en-US" sz="1350" dirty="0">
                <a:solidFill>
                  <a:srgbClr val="252525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· 투자 기간: 1 ~ 60개월
</a:t>
            </a:r>
            <a:pPr indent="0" marL="0">
              <a:lnSpc>
                <a:spcPct val="95000"/>
              </a:lnSpc>
              <a:buNone/>
            </a:pPr>
            <a:r>
              <a:rPr lang="en-US" sz="1350" dirty="0">
                <a:solidFill>
                  <a:srgbClr val="252525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· 위험 성향 및 허용 손실
</a:t>
            </a:r>
            <a:pPr indent="0" marL="0">
              <a:lnSpc>
                <a:spcPct val="95000"/>
              </a:lnSpc>
              <a:buNone/>
            </a:pPr>
            <a:r>
              <a:rPr lang="en-US" sz="1350" dirty="0">
                <a:solidFill>
                  <a:srgbClr val="252525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· 선호 자산 유형: 주식·채권·배당
</a:t>
            </a:r>
            <a:pPr indent="0" marL="0">
              <a:lnSpc>
                <a:spcPct val="95000"/>
              </a:lnSpc>
              <a:buNone/>
            </a:pPr>
            <a:r>
              <a:rPr lang="en-US" sz="1350" dirty="0">
                <a:solidFill>
                  <a:srgbClr val="252525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· 현금성 비중, 관심 테마·산업군 키워드</a:t>
            </a:r>
            <a:endParaRPr lang="en-US" sz="1350" dirty="0"/>
          </a:p>
        </p:txBody>
      </p:sp>
      <p:sp>
        <p:nvSpPr>
          <p:cNvPr id="6" name="Text 4"/>
          <p:cNvSpPr/>
          <p:nvPr/>
        </p:nvSpPr>
        <p:spPr>
          <a:xfrm>
            <a:off x="6400800" y="1737360"/>
            <a:ext cx="2286000" cy="27432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algn="l" indent="0" marL="0">
              <a:lnSpc>
                <a:spcPct val="95000"/>
              </a:lnSpc>
              <a:buNone/>
            </a:pPr>
            <a:r>
              <a:rPr lang="en-US" sz="1200" b="1" dirty="0">
                <a:solidFill>
                  <a:srgbClr val="2F5F5B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선별 기준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6400800" y="2148840"/>
            <a:ext cx="4526280" cy="132588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algn="l" indent="0" marL="0">
              <a:lnSpc>
                <a:spcPct val="95000"/>
              </a:lnSpc>
              <a:buNone/>
            </a:pPr>
            <a:r>
              <a:rPr lang="en-US" sz="1350" dirty="0">
                <a:solidFill>
                  <a:srgbClr val="252525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KRX ETF 데이터에서 가격·거래 데이터가 유효한 종목을 확인합니다.</a:t>
            </a:r>
            <a:endParaRPr lang="en-US" sz="1350" dirty="0"/>
          </a:p>
          <a:p>
            <a:pPr algn="l" indent="0" marL="0">
              <a:lnSpc>
                <a:spcPct val="95000"/>
              </a:lnSpc>
              <a:buNone/>
            </a:pPr>
            <a:r>
              <a:rPr lang="en-US" sz="1350" dirty="0">
                <a:solidFill>
                  <a:srgbClr val="252525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사용자의 투자금으로 매수 가능한 ETF만 1차 후보에 포함하며, 후보는 최대 200개로 제한합니다.</a:t>
            </a:r>
            <a:endParaRPr lang="en-US" sz="1350" dirty="0"/>
          </a:p>
        </p:txBody>
      </p:sp>
      <p:sp>
        <p:nvSpPr>
          <p:cNvPr id="8" name="Shape 6"/>
          <p:cNvSpPr/>
          <p:nvPr/>
        </p:nvSpPr>
        <p:spPr>
          <a:xfrm>
            <a:off x="5833872" y="1828800"/>
            <a:ext cx="0" cy="3246120"/>
          </a:xfrm>
          <a:prstGeom prst="line">
            <a:avLst/>
          </a:prstGeom>
          <a:noFill/>
          <a:ln w="10160">
            <a:solidFill>
              <a:srgbClr val="B8AEA5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868680" y="5074920"/>
            <a:ext cx="9692640" cy="34747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algn="l" indent="0" marL="0">
              <a:lnSpc>
                <a:spcPct val="95000"/>
              </a:lnSpc>
              <a:buNone/>
            </a:pPr>
            <a:r>
              <a:rPr lang="en-US" sz="1600" b="1" dirty="0">
                <a:solidFill>
                  <a:srgbClr val="2F5F5B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입력값이 바뀌면 후보군도 즉시 달라지도록 설계합니다.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11201400" y="6382512"/>
            <a:ext cx="4572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50" dirty="0">
                <a:solidFill>
                  <a:srgbClr val="6C625B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09</a:t>
            </a:r>
            <a:endParaRPr lang="en-US" sz="750" dirty="0"/>
          </a:p>
        </p:txBody>
      </p:sp>
      <p:sp>
        <p:nvSpPr>
          <p:cNvPr id="11" name="Shape 9"/>
          <p:cNvSpPr/>
          <p:nvPr/>
        </p:nvSpPr>
        <p:spPr>
          <a:xfrm>
            <a:off x="685800" y="6272784"/>
            <a:ext cx="10287000" cy="0"/>
          </a:xfrm>
          <a:prstGeom prst="line">
            <a:avLst/>
          </a:prstGeom>
          <a:noFill/>
          <a:ln w="6985">
            <a:solidFill>
              <a:srgbClr val="B8AEA5"/>
            </a:solidFill>
            <a:prstDash val="solid"/>
          </a:ln>
        </p:spPr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7F1E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85800" y="475488"/>
            <a:ext cx="96012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252525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데이터 수집과 보관 구조</a:t>
            </a:r>
            <a:endParaRPr lang="en-US" sz="2500" dirty="0"/>
          </a:p>
        </p:txBody>
      </p:sp>
      <p:sp>
        <p:nvSpPr>
          <p:cNvPr id="3" name="Shape 1"/>
          <p:cNvSpPr/>
          <p:nvPr/>
        </p:nvSpPr>
        <p:spPr>
          <a:xfrm>
            <a:off x="685800" y="1024128"/>
            <a:ext cx="10789920" cy="0"/>
          </a:xfrm>
          <a:prstGeom prst="line">
            <a:avLst/>
          </a:prstGeom>
          <a:noFill/>
          <a:ln w="10160">
            <a:solidFill>
              <a:srgbClr val="252525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914400" y="1764792"/>
            <a:ext cx="310896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C77B45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1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298448" y="1737360"/>
            <a:ext cx="4005072" cy="24688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algn="l" indent="0" marL="0">
              <a:lnSpc>
                <a:spcPct val="95000"/>
              </a:lnSpc>
              <a:buNone/>
            </a:pPr>
            <a:r>
              <a:rPr lang="en-US" sz="1300" b="1" dirty="0">
                <a:solidFill>
                  <a:srgbClr val="252525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스냅샷 확인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1298448" y="2093976"/>
            <a:ext cx="4005072" cy="34747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algn="l" indent="0" marL="0">
              <a:lnSpc>
                <a:spcPct val="95000"/>
              </a:lnSpc>
              <a:buNone/>
            </a:pPr>
            <a:r>
              <a:rPr lang="en-US" sz="1020" dirty="0">
                <a:solidFill>
                  <a:srgbClr val="6C625B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서버 시작 시 최신 영업일 ETF 스냅샷과 최근 12개월 이력을 확인</a:t>
            </a:r>
            <a:endParaRPr lang="en-US" sz="1020" dirty="0"/>
          </a:p>
        </p:txBody>
      </p:sp>
      <p:sp>
        <p:nvSpPr>
          <p:cNvPr id="7" name="Text 5"/>
          <p:cNvSpPr/>
          <p:nvPr/>
        </p:nvSpPr>
        <p:spPr>
          <a:xfrm>
            <a:off x="6172200" y="1764792"/>
            <a:ext cx="310896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C77B45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2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6556248" y="1737360"/>
            <a:ext cx="4005072" cy="24688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algn="l" indent="0" marL="0">
              <a:lnSpc>
                <a:spcPct val="95000"/>
              </a:lnSpc>
              <a:buNone/>
            </a:pPr>
            <a:r>
              <a:rPr lang="en-US" sz="1300" b="1" dirty="0">
                <a:solidFill>
                  <a:srgbClr val="252525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결손일 수집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6556248" y="2093976"/>
            <a:ext cx="4005072" cy="34747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algn="l" indent="0" marL="0">
              <a:lnSpc>
                <a:spcPct val="95000"/>
              </a:lnSpc>
              <a:buNone/>
            </a:pPr>
            <a:r>
              <a:rPr lang="en-US" sz="1020" dirty="0">
                <a:solidFill>
                  <a:srgbClr val="6C625B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없는 날짜만 KRX Open API에서 수집</a:t>
            </a:r>
            <a:endParaRPr lang="en-US" sz="1020" dirty="0"/>
          </a:p>
        </p:txBody>
      </p:sp>
      <p:sp>
        <p:nvSpPr>
          <p:cNvPr id="10" name="Text 8"/>
          <p:cNvSpPr/>
          <p:nvPr/>
        </p:nvSpPr>
        <p:spPr>
          <a:xfrm>
            <a:off x="914400" y="3364992"/>
            <a:ext cx="310896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C77B45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3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1298448" y="3337560"/>
            <a:ext cx="4005072" cy="24688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algn="l" indent="0" marL="0">
              <a:lnSpc>
                <a:spcPct val="95000"/>
              </a:lnSpc>
              <a:buNone/>
            </a:pPr>
            <a:r>
              <a:rPr lang="en-US" sz="1300" b="1" dirty="0">
                <a:solidFill>
                  <a:srgbClr val="252525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SQLite 저장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1298448" y="3694176"/>
            <a:ext cx="4005072" cy="34747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algn="l" indent="0" marL="0">
              <a:lnSpc>
                <a:spcPct val="95000"/>
              </a:lnSpc>
              <a:buNone/>
            </a:pPr>
            <a:r>
              <a:rPr lang="en-US" sz="1020" dirty="0">
                <a:solidFill>
                  <a:srgbClr val="6C625B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ETF 시세·뉴스·구성 종목 데이터를 저장해 당일 데이터 재사용</a:t>
            </a:r>
            <a:endParaRPr lang="en-US" sz="1020" dirty="0"/>
          </a:p>
        </p:txBody>
      </p:sp>
      <p:sp>
        <p:nvSpPr>
          <p:cNvPr id="13" name="Text 11"/>
          <p:cNvSpPr/>
          <p:nvPr/>
        </p:nvSpPr>
        <p:spPr>
          <a:xfrm>
            <a:off x="6172200" y="3364992"/>
            <a:ext cx="310896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C77B45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4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6556248" y="3337560"/>
            <a:ext cx="4005072" cy="24688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algn="l" indent="0" marL="0">
              <a:lnSpc>
                <a:spcPct val="95000"/>
              </a:lnSpc>
              <a:buNone/>
            </a:pPr>
            <a:r>
              <a:rPr lang="en-US" sz="1300" b="1" dirty="0">
                <a:solidFill>
                  <a:srgbClr val="252525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뉴스 검증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6556248" y="3694176"/>
            <a:ext cx="4005072" cy="34747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algn="l" indent="0" marL="0">
              <a:lnSpc>
                <a:spcPct val="95000"/>
              </a:lnSpc>
              <a:buNone/>
            </a:pPr>
            <a:r>
              <a:rPr lang="en-US" sz="1020" dirty="0">
                <a:solidFill>
                  <a:srgbClr val="6C625B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중복 URL, 검색 기간, ETF 관련성을 기준으로 NAVER 뉴스 결과 검증</a:t>
            </a:r>
            <a:endParaRPr lang="en-US" sz="1020" dirty="0"/>
          </a:p>
        </p:txBody>
      </p:sp>
      <p:sp>
        <p:nvSpPr>
          <p:cNvPr id="16" name="Text 14"/>
          <p:cNvSpPr/>
          <p:nvPr/>
        </p:nvSpPr>
        <p:spPr>
          <a:xfrm>
            <a:off x="914400" y="5212080"/>
            <a:ext cx="9966960" cy="41148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algn="l" indent="0" marL="0">
              <a:lnSpc>
                <a:spcPct val="95000"/>
              </a:lnSpc>
              <a:buNone/>
            </a:pPr>
            <a:r>
              <a:rPr lang="en-US" sz="1350" dirty="0">
                <a:solidFill>
                  <a:srgbClr val="6C625B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KODEX ETF는 삼성자산운용 공식 구성 종목 PDF를 조회할 수 있으며, 지원하지 않는 운용사는 제한 상태를 표시합니다.</a:t>
            </a:r>
            <a:endParaRPr lang="en-US" sz="1350" dirty="0"/>
          </a:p>
        </p:txBody>
      </p:sp>
      <p:sp>
        <p:nvSpPr>
          <p:cNvPr id="17" name="Text 15"/>
          <p:cNvSpPr/>
          <p:nvPr/>
        </p:nvSpPr>
        <p:spPr>
          <a:xfrm>
            <a:off x="11201400" y="6382512"/>
            <a:ext cx="4572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50" dirty="0">
                <a:solidFill>
                  <a:srgbClr val="6C625B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10</a:t>
            </a:r>
            <a:endParaRPr lang="en-US" sz="750" dirty="0"/>
          </a:p>
        </p:txBody>
      </p:sp>
      <p:sp>
        <p:nvSpPr>
          <p:cNvPr id="18" name="Shape 16"/>
          <p:cNvSpPr/>
          <p:nvPr/>
        </p:nvSpPr>
        <p:spPr>
          <a:xfrm>
            <a:off x="685800" y="6272784"/>
            <a:ext cx="10287000" cy="0"/>
          </a:xfrm>
          <a:prstGeom prst="line">
            <a:avLst/>
          </a:prstGeom>
          <a:noFill/>
          <a:ln w="6985">
            <a:solidFill>
              <a:srgbClr val="B8AEA5"/>
            </a:solidFill>
            <a:prstDash val="solid"/>
          </a:ln>
        </p:spPr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7F1E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85800" y="475488"/>
            <a:ext cx="96012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252525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분석 결과 구성</a:t>
            </a:r>
            <a:endParaRPr lang="en-US" sz="2500" dirty="0"/>
          </a:p>
        </p:txBody>
      </p:sp>
      <p:sp>
        <p:nvSpPr>
          <p:cNvPr id="3" name="Shape 1"/>
          <p:cNvSpPr/>
          <p:nvPr/>
        </p:nvSpPr>
        <p:spPr>
          <a:xfrm>
            <a:off x="685800" y="1024128"/>
            <a:ext cx="10789920" cy="0"/>
          </a:xfrm>
          <a:prstGeom prst="line">
            <a:avLst/>
          </a:prstGeom>
          <a:noFill/>
          <a:ln w="10160">
            <a:solidFill>
              <a:srgbClr val="252525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868680" y="1783080"/>
            <a:ext cx="2560320" cy="27432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algn="l" indent="0" marL="0">
              <a:lnSpc>
                <a:spcPct val="95000"/>
              </a:lnSpc>
              <a:buNone/>
            </a:pPr>
            <a:r>
              <a:rPr lang="en-US" sz="1450" b="1" dirty="0">
                <a:solidFill>
                  <a:srgbClr val="2F5F5B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정량 지표 계산</a:t>
            </a:r>
            <a:endParaRPr lang="en-US" sz="1450" dirty="0"/>
          </a:p>
        </p:txBody>
      </p:sp>
      <p:sp>
        <p:nvSpPr>
          <p:cNvPr id="5" name="Text 3"/>
          <p:cNvSpPr/>
          <p:nvPr/>
        </p:nvSpPr>
        <p:spPr>
          <a:xfrm>
            <a:off x="868680" y="2194560"/>
            <a:ext cx="4343400" cy="73152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algn="l" indent="0" marL="0">
              <a:lnSpc>
                <a:spcPct val="95000"/>
              </a:lnSpc>
              <a:buNone/>
            </a:pPr>
            <a:r>
              <a:rPr lang="en-US" sz="1270" dirty="0">
                <a:solidFill>
                  <a:srgbClr val="252525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종가 기준 기간 수익률, 연환산 변동성, MDD, 샤프지수, 평균 거래대금을 계산합니다.</a:t>
            </a:r>
            <a:endParaRPr lang="en-US" sz="1270" dirty="0"/>
          </a:p>
        </p:txBody>
      </p:sp>
      <p:sp>
        <p:nvSpPr>
          <p:cNvPr id="6" name="Text 4"/>
          <p:cNvSpPr/>
          <p:nvPr/>
        </p:nvSpPr>
        <p:spPr>
          <a:xfrm>
            <a:off x="6126480" y="1783080"/>
            <a:ext cx="2560320" cy="27432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algn="l" indent="0" marL="0">
              <a:lnSpc>
                <a:spcPct val="95000"/>
              </a:lnSpc>
              <a:buNone/>
            </a:pPr>
            <a:r>
              <a:rPr lang="en-US" sz="1450" b="1" dirty="0">
                <a:solidFill>
                  <a:srgbClr val="2F5F5B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뉴스 감성 분석</a:t>
            </a:r>
            <a:endParaRPr lang="en-US" sz="1450" dirty="0"/>
          </a:p>
        </p:txBody>
      </p:sp>
      <p:sp>
        <p:nvSpPr>
          <p:cNvPr id="7" name="Text 5"/>
          <p:cNvSpPr/>
          <p:nvPr/>
        </p:nvSpPr>
        <p:spPr>
          <a:xfrm>
            <a:off x="6126480" y="2194560"/>
            <a:ext cx="4343400" cy="73152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algn="l" indent="0" marL="0">
              <a:lnSpc>
                <a:spcPct val="95000"/>
              </a:lnSpc>
              <a:buNone/>
            </a:pPr>
            <a:r>
              <a:rPr lang="en-US" sz="1270" dirty="0">
                <a:solidFill>
                  <a:srgbClr val="252525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검증 뉴스 수, 감성 점수, 핵심 이슈, 위험 요인을 표시합니다.</a:t>
            </a:r>
            <a:endParaRPr lang="en-US" sz="1270" dirty="0"/>
          </a:p>
        </p:txBody>
      </p:sp>
      <p:sp>
        <p:nvSpPr>
          <p:cNvPr id="8" name="Text 6"/>
          <p:cNvSpPr/>
          <p:nvPr/>
        </p:nvSpPr>
        <p:spPr>
          <a:xfrm>
            <a:off x="868680" y="3383280"/>
            <a:ext cx="2560320" cy="27432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algn="l" indent="0" marL="0">
              <a:lnSpc>
                <a:spcPct val="95000"/>
              </a:lnSpc>
              <a:buNone/>
            </a:pPr>
            <a:r>
              <a:rPr lang="en-US" sz="1450" b="1" dirty="0">
                <a:solidFill>
                  <a:srgbClr val="2F5F5B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포트폴리오 구성</a:t>
            </a:r>
            <a:endParaRPr lang="en-US" sz="1450" dirty="0"/>
          </a:p>
        </p:txBody>
      </p:sp>
      <p:sp>
        <p:nvSpPr>
          <p:cNvPr id="9" name="Text 7"/>
          <p:cNvSpPr/>
          <p:nvPr/>
        </p:nvSpPr>
        <p:spPr>
          <a:xfrm>
            <a:off x="868680" y="3794760"/>
            <a:ext cx="4343400" cy="73152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algn="l" indent="0" marL="0">
              <a:lnSpc>
                <a:spcPct val="95000"/>
              </a:lnSpc>
              <a:buNone/>
            </a:pPr>
            <a:r>
              <a:rPr lang="en-US" sz="1270" dirty="0">
                <a:solidFill>
                  <a:srgbClr val="252525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정량 점수와 뉴스 근거가 충족되면 정보 제공용 포트폴리오를 구성합니다.</a:t>
            </a:r>
            <a:endParaRPr lang="en-US" sz="1270" dirty="0"/>
          </a:p>
        </p:txBody>
      </p:sp>
      <p:sp>
        <p:nvSpPr>
          <p:cNvPr id="10" name="Text 8"/>
          <p:cNvSpPr/>
          <p:nvPr/>
        </p:nvSpPr>
        <p:spPr>
          <a:xfrm>
            <a:off x="6126480" y="3383280"/>
            <a:ext cx="2560320" cy="27432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algn="l" indent="0" marL="0">
              <a:lnSpc>
                <a:spcPct val="95000"/>
              </a:lnSpc>
              <a:buNone/>
            </a:pPr>
            <a:r>
              <a:rPr lang="en-US" sz="1450" b="1" dirty="0">
                <a:solidFill>
                  <a:srgbClr val="2F5F5B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웹 화면 표시</a:t>
            </a:r>
            <a:endParaRPr lang="en-US" sz="1450" dirty="0"/>
          </a:p>
        </p:txBody>
      </p:sp>
      <p:sp>
        <p:nvSpPr>
          <p:cNvPr id="11" name="Text 9"/>
          <p:cNvSpPr/>
          <p:nvPr/>
        </p:nvSpPr>
        <p:spPr>
          <a:xfrm>
            <a:off x="6126480" y="3794760"/>
            <a:ext cx="4343400" cy="73152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algn="l" indent="0" marL="0">
              <a:lnSpc>
                <a:spcPct val="95000"/>
              </a:lnSpc>
              <a:buNone/>
            </a:pPr>
            <a:r>
              <a:rPr lang="en-US" sz="1270" dirty="0">
                <a:solidFill>
                  <a:srgbClr val="252525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분석 상태, 정렬 표, 레이더 차트, 선정·위험 근거, 구성 종목을 확인합니다.</a:t>
            </a:r>
            <a:endParaRPr lang="en-US" sz="1270" dirty="0"/>
          </a:p>
        </p:txBody>
      </p:sp>
      <p:sp>
        <p:nvSpPr>
          <p:cNvPr id="12" name="Text 10"/>
          <p:cNvSpPr/>
          <p:nvPr/>
        </p:nvSpPr>
        <p:spPr>
          <a:xfrm>
            <a:off x="868680" y="5257800"/>
            <a:ext cx="9784080" cy="27432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algn="l" indent="0" marL="0">
              <a:lnSpc>
                <a:spcPct val="95000"/>
              </a:lnSpc>
              <a:buNone/>
            </a:pPr>
            <a:r>
              <a:rPr lang="en-US" sz="1250" dirty="0">
                <a:solidFill>
                  <a:srgbClr val="6C625B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KOFR 가정과 주간 표본일은 환경 변수로 관리합니다.</a:t>
            </a:r>
            <a:endParaRPr lang="en-US" sz="1250" dirty="0"/>
          </a:p>
        </p:txBody>
      </p:sp>
      <p:sp>
        <p:nvSpPr>
          <p:cNvPr id="13" name="Text 11"/>
          <p:cNvSpPr/>
          <p:nvPr/>
        </p:nvSpPr>
        <p:spPr>
          <a:xfrm>
            <a:off x="11201400" y="6382512"/>
            <a:ext cx="4572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50" dirty="0">
                <a:solidFill>
                  <a:srgbClr val="6C625B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11</a:t>
            </a:r>
            <a:endParaRPr lang="en-US" sz="750" dirty="0"/>
          </a:p>
        </p:txBody>
      </p:sp>
      <p:sp>
        <p:nvSpPr>
          <p:cNvPr id="14" name="Shape 12"/>
          <p:cNvSpPr/>
          <p:nvPr/>
        </p:nvSpPr>
        <p:spPr>
          <a:xfrm>
            <a:off x="685800" y="6272784"/>
            <a:ext cx="10287000" cy="0"/>
          </a:xfrm>
          <a:prstGeom prst="line">
            <a:avLst/>
          </a:prstGeom>
          <a:noFill/>
          <a:ln w="6985">
            <a:solidFill>
              <a:srgbClr val="B8AEA5"/>
            </a:solidFill>
            <a:prstDash val="solid"/>
          </a:ln>
        </p:spPr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7F1E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85800" y="475488"/>
            <a:ext cx="96012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252525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기술 스택</a:t>
            </a:r>
            <a:endParaRPr lang="en-US" sz="2500" dirty="0"/>
          </a:p>
        </p:txBody>
      </p:sp>
      <p:sp>
        <p:nvSpPr>
          <p:cNvPr id="3" name="Shape 1"/>
          <p:cNvSpPr/>
          <p:nvPr/>
        </p:nvSpPr>
        <p:spPr>
          <a:xfrm>
            <a:off x="685800" y="1024128"/>
            <a:ext cx="10789920" cy="0"/>
          </a:xfrm>
          <a:prstGeom prst="line">
            <a:avLst/>
          </a:prstGeom>
          <a:noFill/>
          <a:ln w="10160">
            <a:solidFill>
              <a:srgbClr val="252525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914400" y="1691640"/>
            <a:ext cx="2743200" cy="25603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algn="l" indent="0" marL="0">
              <a:lnSpc>
                <a:spcPct val="95000"/>
              </a:lnSpc>
              <a:buNone/>
            </a:pPr>
            <a:r>
              <a:rPr lang="en-US" sz="1450" b="1" dirty="0">
                <a:solidFill>
                  <a:srgbClr val="2F5F5B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FastAPI + Uvicorn</a:t>
            </a:r>
            <a:endParaRPr lang="en-US" sz="1450" dirty="0"/>
          </a:p>
        </p:txBody>
      </p:sp>
      <p:sp>
        <p:nvSpPr>
          <p:cNvPr id="5" name="Text 3"/>
          <p:cNvSpPr/>
          <p:nvPr/>
        </p:nvSpPr>
        <p:spPr>
          <a:xfrm>
            <a:off x="3794760" y="1709928"/>
            <a:ext cx="5943600" cy="24688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algn="l" indent="0" marL="0">
              <a:lnSpc>
                <a:spcPct val="95000"/>
              </a:lnSpc>
              <a:buNone/>
            </a:pPr>
            <a:r>
              <a:rPr lang="en-US" sz="1320" dirty="0">
                <a:solidFill>
                  <a:srgbClr val="252525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비동기 처리에 최적화된 경량 백엔드</a:t>
            </a:r>
            <a:endParaRPr lang="en-US" sz="1320" dirty="0"/>
          </a:p>
        </p:txBody>
      </p:sp>
      <p:sp>
        <p:nvSpPr>
          <p:cNvPr id="6" name="Shape 4"/>
          <p:cNvSpPr/>
          <p:nvPr/>
        </p:nvSpPr>
        <p:spPr>
          <a:xfrm>
            <a:off x="914400" y="2130552"/>
            <a:ext cx="9418320" cy="0"/>
          </a:xfrm>
          <a:prstGeom prst="line">
            <a:avLst/>
          </a:prstGeom>
          <a:noFill/>
          <a:ln w="6350">
            <a:solidFill>
              <a:srgbClr val="B8AEA5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914400" y="2560320"/>
            <a:ext cx="2743200" cy="25603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algn="l" indent="0" marL="0">
              <a:lnSpc>
                <a:spcPct val="95000"/>
              </a:lnSpc>
              <a:buNone/>
            </a:pPr>
            <a:r>
              <a:rPr lang="en-US" sz="1450" b="1" dirty="0">
                <a:solidFill>
                  <a:srgbClr val="2F5F5B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SQLite</a:t>
            </a:r>
            <a:endParaRPr lang="en-US" sz="1450" dirty="0"/>
          </a:p>
        </p:txBody>
      </p:sp>
      <p:sp>
        <p:nvSpPr>
          <p:cNvPr id="8" name="Text 6"/>
          <p:cNvSpPr/>
          <p:nvPr/>
        </p:nvSpPr>
        <p:spPr>
          <a:xfrm>
            <a:off x="3794760" y="2578608"/>
            <a:ext cx="5943600" cy="24688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algn="l" indent="0" marL="0">
              <a:lnSpc>
                <a:spcPct val="95000"/>
              </a:lnSpc>
              <a:buNone/>
            </a:pPr>
            <a:r>
              <a:rPr lang="en-US" sz="1320" dirty="0">
                <a:solidFill>
                  <a:srgbClr val="252525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로컬 환경에서 즉시 동작 가능한 경량 DB</a:t>
            </a:r>
            <a:endParaRPr lang="en-US" sz="1320" dirty="0"/>
          </a:p>
        </p:txBody>
      </p:sp>
      <p:sp>
        <p:nvSpPr>
          <p:cNvPr id="9" name="Shape 7"/>
          <p:cNvSpPr/>
          <p:nvPr/>
        </p:nvSpPr>
        <p:spPr>
          <a:xfrm>
            <a:off x="914400" y="2999232"/>
            <a:ext cx="9418320" cy="0"/>
          </a:xfrm>
          <a:prstGeom prst="line">
            <a:avLst/>
          </a:prstGeom>
          <a:noFill/>
          <a:ln w="6350">
            <a:solidFill>
              <a:srgbClr val="B8AEA5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914400" y="3429000"/>
            <a:ext cx="2743200" cy="25603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algn="l" indent="0" marL="0">
              <a:lnSpc>
                <a:spcPct val="95000"/>
              </a:lnSpc>
              <a:buNone/>
            </a:pPr>
            <a:r>
              <a:rPr lang="en-US" sz="1450" b="1" dirty="0">
                <a:solidFill>
                  <a:srgbClr val="2F5F5B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OpenAI API</a:t>
            </a:r>
            <a:endParaRPr lang="en-US" sz="1450" dirty="0"/>
          </a:p>
        </p:txBody>
      </p:sp>
      <p:sp>
        <p:nvSpPr>
          <p:cNvPr id="11" name="Text 9"/>
          <p:cNvSpPr/>
          <p:nvPr/>
        </p:nvSpPr>
        <p:spPr>
          <a:xfrm>
            <a:off x="3794760" y="3447288"/>
            <a:ext cx="5943600" cy="24688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algn="l" indent="0" marL="0">
              <a:lnSpc>
                <a:spcPct val="95000"/>
              </a:lnSpc>
              <a:buNone/>
            </a:pPr>
            <a:r>
              <a:rPr lang="en-US" sz="1320" dirty="0">
                <a:solidFill>
                  <a:srgbClr val="252525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뉴스 감성 분석과 핵심 이슈 추출</a:t>
            </a:r>
            <a:endParaRPr lang="en-US" sz="1320" dirty="0"/>
          </a:p>
        </p:txBody>
      </p:sp>
      <p:sp>
        <p:nvSpPr>
          <p:cNvPr id="12" name="Shape 10"/>
          <p:cNvSpPr/>
          <p:nvPr/>
        </p:nvSpPr>
        <p:spPr>
          <a:xfrm>
            <a:off x="914400" y="3867912"/>
            <a:ext cx="9418320" cy="0"/>
          </a:xfrm>
          <a:prstGeom prst="line">
            <a:avLst/>
          </a:prstGeom>
          <a:noFill/>
          <a:ln w="6350">
            <a:solidFill>
              <a:srgbClr val="B8AEA5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914400" y="4297680"/>
            <a:ext cx="2743200" cy="25603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algn="l" indent="0" marL="0">
              <a:lnSpc>
                <a:spcPct val="95000"/>
              </a:lnSpc>
              <a:buNone/>
            </a:pPr>
            <a:r>
              <a:rPr lang="en-US" sz="1450" b="1" dirty="0">
                <a:solidFill>
                  <a:srgbClr val="2F5F5B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Vite + TypeScript</a:t>
            </a:r>
            <a:endParaRPr lang="en-US" sz="1450" dirty="0"/>
          </a:p>
        </p:txBody>
      </p:sp>
      <p:sp>
        <p:nvSpPr>
          <p:cNvPr id="14" name="Text 12"/>
          <p:cNvSpPr/>
          <p:nvPr/>
        </p:nvSpPr>
        <p:spPr>
          <a:xfrm>
            <a:off x="3794760" y="4315968"/>
            <a:ext cx="5943600" cy="24688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algn="l" indent="0" marL="0">
              <a:lnSpc>
                <a:spcPct val="95000"/>
              </a:lnSpc>
              <a:buNone/>
            </a:pPr>
            <a:r>
              <a:rPr lang="en-US" sz="1320" dirty="0">
                <a:solidFill>
                  <a:srgbClr val="252525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빠른 개발 경험과 타입 안정성</a:t>
            </a:r>
            <a:endParaRPr lang="en-US" sz="1320" dirty="0"/>
          </a:p>
        </p:txBody>
      </p:sp>
      <p:sp>
        <p:nvSpPr>
          <p:cNvPr id="15" name="Shape 13"/>
          <p:cNvSpPr/>
          <p:nvPr/>
        </p:nvSpPr>
        <p:spPr>
          <a:xfrm>
            <a:off x="914400" y="4736592"/>
            <a:ext cx="9418320" cy="0"/>
          </a:xfrm>
          <a:prstGeom prst="line">
            <a:avLst/>
          </a:prstGeom>
          <a:noFill/>
          <a:ln w="6350">
            <a:solidFill>
              <a:srgbClr val="B8AEA5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914400" y="5486400"/>
            <a:ext cx="9601200" cy="27432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algn="l" indent="0" marL="0">
              <a:lnSpc>
                <a:spcPct val="95000"/>
              </a:lnSpc>
              <a:buNone/>
            </a:pPr>
            <a:r>
              <a:rPr lang="en-US" sz="1250" dirty="0">
                <a:solidFill>
                  <a:srgbClr val="6C625B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KODEX 구성 종목 조회는 별도 API 키 없이 삼성자산운용 공식 자료를 사용합니다.</a:t>
            </a:r>
            <a:endParaRPr lang="en-US" sz="1250" dirty="0"/>
          </a:p>
        </p:txBody>
      </p:sp>
      <p:sp>
        <p:nvSpPr>
          <p:cNvPr id="17" name="Text 15"/>
          <p:cNvSpPr/>
          <p:nvPr/>
        </p:nvSpPr>
        <p:spPr>
          <a:xfrm>
            <a:off x="11201400" y="6382512"/>
            <a:ext cx="4572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50" dirty="0">
                <a:solidFill>
                  <a:srgbClr val="6C625B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12</a:t>
            </a:r>
            <a:endParaRPr lang="en-US" sz="750" dirty="0"/>
          </a:p>
        </p:txBody>
      </p:sp>
      <p:sp>
        <p:nvSpPr>
          <p:cNvPr id="18" name="Shape 16"/>
          <p:cNvSpPr/>
          <p:nvPr/>
        </p:nvSpPr>
        <p:spPr>
          <a:xfrm>
            <a:off x="685800" y="6272784"/>
            <a:ext cx="10287000" cy="0"/>
          </a:xfrm>
          <a:prstGeom prst="line">
            <a:avLst/>
          </a:prstGeom>
          <a:noFill/>
          <a:ln w="6985">
            <a:solidFill>
              <a:srgbClr val="B8AEA5"/>
            </a:solidFill>
            <a:prstDash val="solid"/>
          </a:ln>
        </p:spPr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7F1E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85800" y="475488"/>
            <a:ext cx="96012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252525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프로젝트 구조</a:t>
            </a:r>
            <a:endParaRPr lang="en-US" sz="2500" dirty="0"/>
          </a:p>
        </p:txBody>
      </p:sp>
      <p:sp>
        <p:nvSpPr>
          <p:cNvPr id="3" name="Shape 1"/>
          <p:cNvSpPr/>
          <p:nvPr/>
        </p:nvSpPr>
        <p:spPr>
          <a:xfrm>
            <a:off x="685800" y="1024128"/>
            <a:ext cx="10789920" cy="0"/>
          </a:xfrm>
          <a:prstGeom prst="line">
            <a:avLst/>
          </a:prstGeom>
          <a:noFill/>
          <a:ln w="10160">
            <a:solidFill>
              <a:srgbClr val="252525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868680" y="1645920"/>
            <a:ext cx="4892040" cy="3977640"/>
          </a:xfrm>
          <a:prstGeom prst="rect">
            <a:avLst/>
          </a:prstGeom>
          <a:solidFill>
            <a:srgbClr val="ECE3DA"/>
          </a:solidFill>
          <a:ln w="7620">
            <a:solidFill>
              <a:srgbClr val="D7CBC0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1097280" y="1901952"/>
            <a:ext cx="4434840" cy="345643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algn="l" indent="0" marL="0">
              <a:lnSpc>
                <a:spcPct val="95000"/>
              </a:lnSpc>
              <a:buNone/>
            </a:pPr>
            <a:r>
              <a:rPr lang="en-US" sz="1120" dirty="0">
                <a:solidFill>
                  <a:srgbClr val="252525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backend/     FastAPI 라우트, 수집기, 분석·포트폴리오 서비스</a:t>
            </a:r>
            <a:endParaRPr lang="en-US" sz="1120" dirty="0"/>
          </a:p>
          <a:p>
            <a:pPr algn="l" indent="0" marL="0">
              <a:lnSpc>
                <a:spcPct val="95000"/>
              </a:lnSpc>
              <a:buNone/>
            </a:pPr>
            <a:r>
              <a:rPr lang="en-US" sz="1120" dirty="0">
                <a:solidFill>
                  <a:srgbClr val="252525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  app/</a:t>
            </a:r>
            <a:endParaRPr lang="en-US" sz="1120" dirty="0"/>
          </a:p>
          <a:p>
            <a:pPr algn="l" indent="0" marL="0">
              <a:lnSpc>
                <a:spcPct val="95000"/>
              </a:lnSpc>
              <a:buNone/>
            </a:pPr>
            <a:r>
              <a:rPr lang="en-US" sz="1120" dirty="0">
                <a:solidFill>
                  <a:srgbClr val="252525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  tests/</a:t>
            </a:r>
            <a:endParaRPr lang="en-US" sz="1120" dirty="0"/>
          </a:p>
          <a:p>
            <a:pPr algn="l" indent="0" marL="0">
              <a:lnSpc>
                <a:spcPct val="95000"/>
              </a:lnSpc>
              <a:buNone/>
            </a:pPr>
            <a:r>
              <a:rPr lang="en-US" sz="1120" dirty="0">
                <a:solidFill>
                  <a:srgbClr val="252525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  requirements.txt</a:t>
            </a:r>
            <a:endParaRPr lang="en-US" sz="1120" dirty="0"/>
          </a:p>
          <a:p>
            <a:pPr algn="l" indent="0" marL="0">
              <a:lnSpc>
                <a:spcPct val="95000"/>
              </a:lnSpc>
              <a:buNone/>
            </a:pPr>
            <a:r>
              <a:rPr lang="en-US" sz="1120" dirty="0">
                <a:solidFill>
                  <a:srgbClr val="252525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frontend/    Vite 기반 분석 화면과 API 호출 코드</a:t>
            </a:r>
            <a:endParaRPr lang="en-US" sz="1120" dirty="0"/>
          </a:p>
          <a:p>
            <a:pPr algn="l" indent="0" marL="0">
              <a:lnSpc>
                <a:spcPct val="95000"/>
              </a:lnSpc>
              <a:buNone/>
            </a:pPr>
            <a:r>
              <a:rPr lang="en-US" sz="1120" dirty="0">
                <a:solidFill>
                  <a:srgbClr val="252525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  src/</a:t>
            </a:r>
            <a:endParaRPr lang="en-US" sz="1120" dirty="0"/>
          </a:p>
          <a:p>
            <a:pPr algn="l" indent="0" marL="0">
              <a:lnSpc>
                <a:spcPct val="95000"/>
              </a:lnSpc>
              <a:buNone/>
            </a:pPr>
            <a:r>
              <a:rPr lang="en-US" sz="1120" dirty="0">
                <a:solidFill>
                  <a:srgbClr val="252525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data/        로컬 SQLite DB(버전 관리 제외)</a:t>
            </a:r>
            <a:endParaRPr lang="en-US" sz="1120" dirty="0"/>
          </a:p>
          <a:p>
            <a:pPr algn="l" indent="0" marL="0">
              <a:lnSpc>
                <a:spcPct val="95000"/>
              </a:lnSpc>
              <a:buNone/>
            </a:pPr>
            <a:r>
              <a:rPr lang="en-US" sz="1120" dirty="0">
                <a:solidFill>
                  <a:srgbClr val="252525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docs/        요구사항, API 계약, 테스트 계획</a:t>
            </a:r>
            <a:endParaRPr lang="en-US" sz="1120" dirty="0"/>
          </a:p>
          <a:p>
            <a:pPr algn="l" indent="0" marL="0">
              <a:lnSpc>
                <a:spcPct val="95000"/>
              </a:lnSpc>
              <a:buNone/>
            </a:pPr>
            <a:r>
              <a:rPr lang="en-US" sz="1120" dirty="0">
                <a:solidFill>
                  <a:srgbClr val="252525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.env.example 환경 변수 예시</a:t>
            </a:r>
            <a:endParaRPr lang="en-US" sz="1120" dirty="0"/>
          </a:p>
          <a:p>
            <a:pPr algn="l" indent="0" marL="0">
              <a:lnSpc>
                <a:spcPct val="95000"/>
              </a:lnSpc>
              <a:buNone/>
            </a:pPr>
            <a:r>
              <a:rPr lang="en-US" sz="1120" dirty="0">
                <a:solidFill>
                  <a:srgbClr val="252525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README.md</a:t>
            </a:r>
            <a:endParaRPr lang="en-US" sz="1120" dirty="0"/>
          </a:p>
        </p:txBody>
      </p:sp>
      <p:sp>
        <p:nvSpPr>
          <p:cNvPr id="6" name="Text 4"/>
          <p:cNvSpPr/>
          <p:nvPr/>
        </p:nvSpPr>
        <p:spPr>
          <a:xfrm>
            <a:off x="6400800" y="1737360"/>
            <a:ext cx="2743200" cy="27432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algn="l" indent="0" marL="0">
              <a:lnSpc>
                <a:spcPct val="95000"/>
              </a:lnSpc>
              <a:buNone/>
            </a:pPr>
            <a:r>
              <a:rPr lang="en-US" sz="1200" b="1" dirty="0">
                <a:solidFill>
                  <a:srgbClr val="2F5F5B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구조 설계 원칙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6400800" y="2212848"/>
            <a:ext cx="4572000" cy="150876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indent="0" marL="0">
              <a:lnSpc>
                <a:spcPct val="95000"/>
              </a:lnSpc>
              <a:buNone/>
            </a:pPr>
            <a:r>
              <a:rPr lang="en-US" sz="1320" dirty="0">
                <a:solidFill>
                  <a:srgbClr val="252525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· Backend와 Frontend를 독립 실행
</a:t>
            </a:r>
            <a:pPr indent="0" marL="0">
              <a:lnSpc>
                <a:spcPct val="95000"/>
              </a:lnSpc>
              <a:buNone/>
            </a:pPr>
            <a:r>
              <a:rPr lang="en-US" sz="1320" dirty="0">
                <a:solidFill>
                  <a:srgbClr val="252525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· data/ 디렉터리는 버전 관리에서 제외
</a:t>
            </a:r>
            <a:pPr indent="0" marL="0">
              <a:lnSpc>
                <a:spcPct val="95000"/>
              </a:lnSpc>
              <a:buNone/>
            </a:pPr>
            <a:r>
              <a:rPr lang="en-US" sz="1320" dirty="0">
                <a:solidFill>
                  <a:srgbClr val="252525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· docs/에 요구사항·API 계약·테스트 계획 문서화
</a:t>
            </a:r>
            <a:pPr indent="0" marL="0">
              <a:lnSpc>
                <a:spcPct val="95000"/>
              </a:lnSpc>
              <a:buNone/>
            </a:pPr>
            <a:r>
              <a:rPr lang="en-US" sz="1320" dirty="0">
                <a:solidFill>
                  <a:srgbClr val="252525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· .env.example로 환경 변수 설정 가이드 제공</a:t>
            </a:r>
            <a:endParaRPr lang="en-US" sz="1320" dirty="0"/>
          </a:p>
        </p:txBody>
      </p:sp>
      <p:sp>
        <p:nvSpPr>
          <p:cNvPr id="8" name="Text 6"/>
          <p:cNvSpPr/>
          <p:nvPr/>
        </p:nvSpPr>
        <p:spPr>
          <a:xfrm>
            <a:off x="11201400" y="6382512"/>
            <a:ext cx="4572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50" dirty="0">
                <a:solidFill>
                  <a:srgbClr val="6C625B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13</a:t>
            </a:r>
            <a:endParaRPr lang="en-US" sz="750" dirty="0"/>
          </a:p>
        </p:txBody>
      </p:sp>
      <p:sp>
        <p:nvSpPr>
          <p:cNvPr id="9" name="Shape 7"/>
          <p:cNvSpPr/>
          <p:nvPr/>
        </p:nvSpPr>
        <p:spPr>
          <a:xfrm>
            <a:off x="685800" y="6272784"/>
            <a:ext cx="10287000" cy="0"/>
          </a:xfrm>
          <a:prstGeom prst="line">
            <a:avLst/>
          </a:prstGeom>
          <a:noFill/>
          <a:ln w="6985">
            <a:solidFill>
              <a:srgbClr val="B8AEA5"/>
            </a:solidFill>
            <a:prstDash val="solid"/>
          </a:ln>
        </p:spPr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7F1E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85800" y="475488"/>
            <a:ext cx="96012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252525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실행 전 준비 — 환경 변수</a:t>
            </a:r>
            <a:endParaRPr lang="en-US" sz="2500" dirty="0"/>
          </a:p>
        </p:txBody>
      </p:sp>
      <p:sp>
        <p:nvSpPr>
          <p:cNvPr id="3" name="Shape 1"/>
          <p:cNvSpPr/>
          <p:nvPr/>
        </p:nvSpPr>
        <p:spPr>
          <a:xfrm>
            <a:off x="685800" y="1024128"/>
            <a:ext cx="10789920" cy="0"/>
          </a:xfrm>
          <a:prstGeom prst="line">
            <a:avLst/>
          </a:prstGeom>
          <a:noFill/>
          <a:ln w="10160">
            <a:solidFill>
              <a:srgbClr val="252525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868680" y="1508760"/>
            <a:ext cx="10424160" cy="41148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algn="l" indent="0" marL="0">
              <a:lnSpc>
                <a:spcPct val="95000"/>
              </a:lnSpc>
              <a:buNone/>
            </a:pPr>
            <a:r>
              <a:rPr lang="en-US" sz="1280" dirty="0">
                <a:solidFill>
                  <a:srgbClr val="6C625B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루트의 .env.example을 복사해 .env를 만든 뒤 필요한 API 키와 설정값을 입력합니다. 실제 키는 저장소에 커밋하지 않습니다.</a:t>
            </a:r>
            <a:endParaRPr lang="en-US" sz="1280" dirty="0"/>
          </a:p>
        </p:txBody>
      </p:sp>
      <p:sp>
        <p:nvSpPr>
          <p:cNvPr id="5" name="Text 3"/>
          <p:cNvSpPr/>
          <p:nvPr/>
        </p:nvSpPr>
        <p:spPr>
          <a:xfrm>
            <a:off x="914400" y="2084832"/>
            <a:ext cx="2468880" cy="22860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algn="l" indent="0" marL="0">
              <a:lnSpc>
                <a:spcPct val="95000"/>
              </a:lnSpc>
              <a:buNone/>
            </a:pPr>
            <a:r>
              <a:rPr lang="en-US" sz="1180" b="1" dirty="0">
                <a:solidFill>
                  <a:srgbClr val="2F5F5B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KRX ETF 시세</a:t>
            </a:r>
            <a:endParaRPr lang="en-US" sz="1180" dirty="0"/>
          </a:p>
        </p:txBody>
      </p:sp>
      <p:sp>
        <p:nvSpPr>
          <p:cNvPr id="6" name="Text 4"/>
          <p:cNvSpPr/>
          <p:nvPr/>
        </p:nvSpPr>
        <p:spPr>
          <a:xfrm>
            <a:off x="3566160" y="2084832"/>
            <a:ext cx="7132320" cy="22860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algn="l" indent="0" marL="0">
              <a:lnSpc>
                <a:spcPct val="95000"/>
              </a:lnSpc>
              <a:buNone/>
            </a:pPr>
            <a:r>
              <a:rPr lang="en-US" sz="1130" dirty="0">
                <a:solidFill>
                  <a:srgbClr val="252525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KRX_API_KEY, ETF_DATABASE_PATH</a:t>
            </a:r>
            <a:endParaRPr lang="en-US" sz="1130" dirty="0"/>
          </a:p>
        </p:txBody>
      </p:sp>
      <p:sp>
        <p:nvSpPr>
          <p:cNvPr id="7" name="Text 5"/>
          <p:cNvSpPr/>
          <p:nvPr/>
        </p:nvSpPr>
        <p:spPr>
          <a:xfrm>
            <a:off x="914400" y="2660904"/>
            <a:ext cx="2468880" cy="22860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algn="l" indent="0" marL="0">
              <a:lnSpc>
                <a:spcPct val="95000"/>
              </a:lnSpc>
              <a:buNone/>
            </a:pPr>
            <a:r>
              <a:rPr lang="en-US" sz="1180" b="1" dirty="0">
                <a:solidFill>
                  <a:srgbClr val="2F5F5B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정량 계산 가정</a:t>
            </a:r>
            <a:endParaRPr lang="en-US" sz="1180" dirty="0"/>
          </a:p>
        </p:txBody>
      </p:sp>
      <p:sp>
        <p:nvSpPr>
          <p:cNvPr id="8" name="Text 6"/>
          <p:cNvSpPr/>
          <p:nvPr/>
        </p:nvSpPr>
        <p:spPr>
          <a:xfrm>
            <a:off x="3566160" y="2660904"/>
            <a:ext cx="7132320" cy="22860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algn="l" indent="0" marL="0">
              <a:lnSpc>
                <a:spcPct val="95000"/>
              </a:lnSpc>
              <a:buNone/>
            </a:pPr>
            <a:r>
              <a:rPr lang="en-US" sz="1130" dirty="0">
                <a:solidFill>
                  <a:srgbClr val="252525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KOFR_ANNUAL_RATE_PERCENT, WEEKLY_SAMPLE_WEEKDAY</a:t>
            </a:r>
            <a:endParaRPr lang="en-US" sz="1130" dirty="0"/>
          </a:p>
        </p:txBody>
      </p:sp>
      <p:sp>
        <p:nvSpPr>
          <p:cNvPr id="9" name="Text 7"/>
          <p:cNvSpPr/>
          <p:nvPr/>
        </p:nvSpPr>
        <p:spPr>
          <a:xfrm>
            <a:off x="914400" y="3236976"/>
            <a:ext cx="2468880" cy="22860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algn="l" indent="0" marL="0">
              <a:lnSpc>
                <a:spcPct val="95000"/>
              </a:lnSpc>
              <a:buNone/>
            </a:pPr>
            <a:r>
              <a:rPr lang="en-US" sz="1180" b="1" dirty="0">
                <a:solidFill>
                  <a:srgbClr val="2F5F5B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NAVER 뉴스</a:t>
            </a:r>
            <a:endParaRPr lang="en-US" sz="1180" dirty="0"/>
          </a:p>
        </p:txBody>
      </p:sp>
      <p:sp>
        <p:nvSpPr>
          <p:cNvPr id="10" name="Text 8"/>
          <p:cNvSpPr/>
          <p:nvPr/>
        </p:nvSpPr>
        <p:spPr>
          <a:xfrm>
            <a:off x="3566160" y="3236976"/>
            <a:ext cx="7132320" cy="22860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algn="l" indent="0" marL="0">
              <a:lnSpc>
                <a:spcPct val="95000"/>
              </a:lnSpc>
              <a:buNone/>
            </a:pPr>
            <a:r>
              <a:rPr lang="en-US" sz="1130" dirty="0">
                <a:solidFill>
                  <a:srgbClr val="252525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NAVER_API_KEY_ID, NAVER_API_KEY, NEWS_RELEVANCE_THRESHOLD</a:t>
            </a:r>
            <a:endParaRPr lang="en-US" sz="1130" dirty="0"/>
          </a:p>
        </p:txBody>
      </p:sp>
      <p:sp>
        <p:nvSpPr>
          <p:cNvPr id="11" name="Text 9"/>
          <p:cNvSpPr/>
          <p:nvPr/>
        </p:nvSpPr>
        <p:spPr>
          <a:xfrm>
            <a:off x="914400" y="3813048"/>
            <a:ext cx="2468880" cy="22860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algn="l" indent="0" marL="0">
              <a:lnSpc>
                <a:spcPct val="95000"/>
              </a:lnSpc>
              <a:buNone/>
            </a:pPr>
            <a:r>
              <a:rPr lang="en-US" sz="1180" b="1" dirty="0">
                <a:solidFill>
                  <a:srgbClr val="2F5F5B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OpenAI 감성 분석</a:t>
            </a:r>
            <a:endParaRPr lang="en-US" sz="1180" dirty="0"/>
          </a:p>
        </p:txBody>
      </p:sp>
      <p:sp>
        <p:nvSpPr>
          <p:cNvPr id="12" name="Text 10"/>
          <p:cNvSpPr/>
          <p:nvPr/>
        </p:nvSpPr>
        <p:spPr>
          <a:xfrm>
            <a:off x="3566160" y="3813048"/>
            <a:ext cx="7132320" cy="22860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algn="l" indent="0" marL="0">
              <a:lnSpc>
                <a:spcPct val="95000"/>
              </a:lnSpc>
              <a:buNone/>
            </a:pPr>
            <a:r>
              <a:rPr lang="en-US" sz="1130" dirty="0">
                <a:solidFill>
                  <a:srgbClr val="252525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OPENAI_API_KEY, OPENAI_SENTIMENT_MODEL, SENTIMENT_MINIMUM_ARTICLES</a:t>
            </a:r>
            <a:endParaRPr lang="en-US" sz="1130" dirty="0"/>
          </a:p>
        </p:txBody>
      </p:sp>
      <p:sp>
        <p:nvSpPr>
          <p:cNvPr id="13" name="Text 11"/>
          <p:cNvSpPr/>
          <p:nvPr/>
        </p:nvSpPr>
        <p:spPr>
          <a:xfrm>
            <a:off x="914400" y="4389120"/>
            <a:ext cx="2468880" cy="22860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algn="l" indent="0" marL="0">
              <a:lnSpc>
                <a:spcPct val="95000"/>
              </a:lnSpc>
              <a:buNone/>
            </a:pPr>
            <a:r>
              <a:rPr lang="en-US" sz="1180" b="1" dirty="0">
                <a:solidFill>
                  <a:srgbClr val="2F5F5B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Frontend 연결</a:t>
            </a:r>
            <a:endParaRPr lang="en-US" sz="1180" dirty="0"/>
          </a:p>
        </p:txBody>
      </p:sp>
      <p:sp>
        <p:nvSpPr>
          <p:cNvPr id="14" name="Text 12"/>
          <p:cNvSpPr/>
          <p:nvPr/>
        </p:nvSpPr>
        <p:spPr>
          <a:xfrm>
            <a:off x="3566160" y="4389120"/>
            <a:ext cx="7132320" cy="22860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algn="l" indent="0" marL="0">
              <a:lnSpc>
                <a:spcPct val="95000"/>
              </a:lnSpc>
              <a:buNone/>
            </a:pPr>
            <a:r>
              <a:rPr lang="en-US" sz="1130" dirty="0">
                <a:solidFill>
                  <a:srgbClr val="252525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VITE_API_BASE_URL (미설정 시 http://127.0.0.1:8000)</a:t>
            </a:r>
            <a:endParaRPr lang="en-US" sz="1130" dirty="0"/>
          </a:p>
        </p:txBody>
      </p:sp>
      <p:sp>
        <p:nvSpPr>
          <p:cNvPr id="15" name="Shape 13"/>
          <p:cNvSpPr/>
          <p:nvPr/>
        </p:nvSpPr>
        <p:spPr>
          <a:xfrm>
            <a:off x="868680" y="5257800"/>
            <a:ext cx="10149840" cy="566928"/>
          </a:xfrm>
          <a:prstGeom prst="rect">
            <a:avLst/>
          </a:prstGeom>
          <a:solidFill>
            <a:srgbClr val="F4E7C8"/>
          </a:solidFill>
          <a:ln w="7620">
            <a:solidFill>
              <a:srgbClr val="E2C979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1051560" y="5413248"/>
            <a:ext cx="9692640" cy="22860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algn="l" indent="0" marL="0">
              <a:lnSpc>
                <a:spcPct val="95000"/>
              </a:lnSpc>
              <a:buNone/>
            </a:pPr>
            <a:r>
              <a:rPr lang="en-US" sz="1120" dirty="0">
                <a:solidFill>
                  <a:srgbClr val="252525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KRX 키가 없으면 ETF 데이터 수집이 실패하며, NAVER 또는 OpenAI 설정이 없으면 해당 단계는 오류 또는 제한 상태로 응답됩니다.</a:t>
            </a:r>
            <a:endParaRPr lang="en-US" sz="1120" dirty="0"/>
          </a:p>
        </p:txBody>
      </p:sp>
      <p:sp>
        <p:nvSpPr>
          <p:cNvPr id="17" name="Text 15"/>
          <p:cNvSpPr/>
          <p:nvPr/>
        </p:nvSpPr>
        <p:spPr>
          <a:xfrm>
            <a:off x="11201400" y="6382512"/>
            <a:ext cx="4572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50" dirty="0">
                <a:solidFill>
                  <a:srgbClr val="6C625B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14</a:t>
            </a:r>
            <a:endParaRPr lang="en-US" sz="750" dirty="0"/>
          </a:p>
        </p:txBody>
      </p:sp>
      <p:sp>
        <p:nvSpPr>
          <p:cNvPr id="18" name="Shape 16"/>
          <p:cNvSpPr/>
          <p:nvPr/>
        </p:nvSpPr>
        <p:spPr>
          <a:xfrm>
            <a:off x="685800" y="6272784"/>
            <a:ext cx="10287000" cy="0"/>
          </a:xfrm>
          <a:prstGeom prst="line">
            <a:avLst/>
          </a:prstGeom>
          <a:noFill/>
          <a:ln w="6985">
            <a:solidFill>
              <a:srgbClr val="B8AEA5"/>
            </a:solidFill>
            <a:prstDash val="solid"/>
          </a:ln>
        </p:spPr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7F1E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85800" y="475488"/>
            <a:ext cx="96012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252525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실행 방법과 API 엔드포인트</a:t>
            </a:r>
            <a:endParaRPr lang="en-US" sz="2500" dirty="0"/>
          </a:p>
        </p:txBody>
      </p:sp>
      <p:sp>
        <p:nvSpPr>
          <p:cNvPr id="3" name="Shape 1"/>
          <p:cNvSpPr/>
          <p:nvPr/>
        </p:nvSpPr>
        <p:spPr>
          <a:xfrm>
            <a:off x="685800" y="1024128"/>
            <a:ext cx="10789920" cy="0"/>
          </a:xfrm>
          <a:prstGeom prst="line">
            <a:avLst/>
          </a:prstGeom>
          <a:noFill/>
          <a:ln w="10160">
            <a:solidFill>
              <a:srgbClr val="252525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868680" y="1645920"/>
            <a:ext cx="4892040" cy="1965960"/>
          </a:xfrm>
          <a:prstGeom prst="rect">
            <a:avLst/>
          </a:prstGeom>
          <a:solidFill>
            <a:srgbClr val="ECE3DA"/>
          </a:solidFill>
          <a:ln w="7620">
            <a:solidFill>
              <a:srgbClr val="D7CBC0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1069848" y="1901952"/>
            <a:ext cx="4434840" cy="132588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algn="l" indent="0" marL="0">
              <a:lnSpc>
                <a:spcPct val="95000"/>
              </a:lnSpc>
              <a:buNone/>
            </a:pPr>
            <a:r>
              <a:rPr lang="en-US" sz="1130" dirty="0">
                <a:solidFill>
                  <a:srgbClr val="252525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백엔드 실행</a:t>
            </a:r>
            <a:endParaRPr lang="en-US" sz="1130" dirty="0"/>
          </a:p>
          <a:p>
            <a:pPr algn="l" indent="0" marL="0">
              <a:lnSpc>
                <a:spcPct val="95000"/>
              </a:lnSpc>
              <a:buNone/>
            </a:pPr>
            <a:r>
              <a:rPr lang="en-US" sz="1130" dirty="0">
                <a:solidFill>
                  <a:srgbClr val="252525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cd backend</a:t>
            </a:r>
            <a:endParaRPr lang="en-US" sz="1130" dirty="0"/>
          </a:p>
          <a:p>
            <a:pPr algn="l" indent="0" marL="0">
              <a:lnSpc>
                <a:spcPct val="95000"/>
              </a:lnSpc>
              <a:buNone/>
            </a:pPr>
            <a:r>
              <a:rPr lang="en-US" sz="1130" dirty="0">
                <a:solidFill>
                  <a:srgbClr val="252525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python -m pip install -r requirements.txt</a:t>
            </a:r>
            <a:endParaRPr lang="en-US" sz="1130" dirty="0"/>
          </a:p>
          <a:p>
            <a:pPr algn="l" indent="0" marL="0">
              <a:lnSpc>
                <a:spcPct val="95000"/>
              </a:lnSpc>
              <a:buNone/>
            </a:pPr>
            <a:r>
              <a:rPr lang="en-US" sz="1130" dirty="0">
                <a:solidFill>
                  <a:srgbClr val="252525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python -m uvicorn app.main:app --reload --port 8000</a:t>
            </a:r>
            <a:endParaRPr lang="en-US" sz="1130" dirty="0"/>
          </a:p>
        </p:txBody>
      </p:sp>
      <p:sp>
        <p:nvSpPr>
          <p:cNvPr id="6" name="Shape 4"/>
          <p:cNvSpPr/>
          <p:nvPr/>
        </p:nvSpPr>
        <p:spPr>
          <a:xfrm>
            <a:off x="868680" y="3977640"/>
            <a:ext cx="4892040" cy="1417320"/>
          </a:xfrm>
          <a:prstGeom prst="rect">
            <a:avLst/>
          </a:prstGeom>
          <a:solidFill>
            <a:srgbClr val="ECE3DA"/>
          </a:solidFill>
          <a:ln w="7620">
            <a:solidFill>
              <a:srgbClr val="D7CBC0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1069848" y="4224528"/>
            <a:ext cx="4434840" cy="96012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algn="l" indent="0" marL="0">
              <a:lnSpc>
                <a:spcPct val="95000"/>
              </a:lnSpc>
              <a:buNone/>
            </a:pPr>
            <a:r>
              <a:rPr lang="en-US" sz="1130" dirty="0">
                <a:solidFill>
                  <a:srgbClr val="252525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프론트엔드 실행</a:t>
            </a:r>
            <a:endParaRPr lang="en-US" sz="1130" dirty="0"/>
          </a:p>
          <a:p>
            <a:pPr algn="l" indent="0" marL="0">
              <a:lnSpc>
                <a:spcPct val="95000"/>
              </a:lnSpc>
              <a:buNone/>
            </a:pPr>
            <a:r>
              <a:rPr lang="en-US" sz="1130" dirty="0">
                <a:solidFill>
                  <a:srgbClr val="252525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cd frontend</a:t>
            </a:r>
            <a:endParaRPr lang="en-US" sz="1130" dirty="0"/>
          </a:p>
          <a:p>
            <a:pPr algn="l" indent="0" marL="0">
              <a:lnSpc>
                <a:spcPct val="95000"/>
              </a:lnSpc>
              <a:buNone/>
            </a:pPr>
            <a:r>
              <a:rPr lang="en-US" sz="1130" dirty="0">
                <a:solidFill>
                  <a:srgbClr val="252525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npm install</a:t>
            </a:r>
            <a:endParaRPr lang="en-US" sz="1130" dirty="0"/>
          </a:p>
          <a:p>
            <a:pPr algn="l" indent="0" marL="0">
              <a:lnSpc>
                <a:spcPct val="95000"/>
              </a:lnSpc>
              <a:buNone/>
            </a:pPr>
            <a:r>
              <a:rPr lang="en-US" sz="1130" dirty="0">
                <a:solidFill>
                  <a:srgbClr val="252525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npm run dev</a:t>
            </a:r>
            <a:endParaRPr lang="en-US" sz="1130" dirty="0"/>
          </a:p>
        </p:txBody>
      </p:sp>
      <p:sp>
        <p:nvSpPr>
          <p:cNvPr id="8" name="Text 6"/>
          <p:cNvSpPr/>
          <p:nvPr/>
        </p:nvSpPr>
        <p:spPr>
          <a:xfrm>
            <a:off x="6400800" y="1737360"/>
            <a:ext cx="2011680" cy="27432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algn="l" indent="0" marL="0">
              <a:lnSpc>
                <a:spcPct val="95000"/>
              </a:lnSpc>
              <a:buNone/>
            </a:pPr>
            <a:r>
              <a:rPr lang="en-US" sz="1200" b="1" dirty="0">
                <a:solidFill>
                  <a:srgbClr val="2F5F5B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주요 URL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6400800" y="2212848"/>
            <a:ext cx="4480560" cy="100584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indent="0" marL="0">
              <a:lnSpc>
                <a:spcPct val="95000"/>
              </a:lnSpc>
              <a:buNone/>
            </a:pPr>
            <a:r>
              <a:rPr lang="en-US" sz="1250" dirty="0">
                <a:solidFill>
                  <a:srgbClr val="252525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· 웹 화면: http://localhost:5173
</a:t>
            </a:r>
            <a:pPr indent="0" marL="0">
              <a:lnSpc>
                <a:spcPct val="95000"/>
              </a:lnSpc>
              <a:buNone/>
            </a:pPr>
            <a:r>
              <a:rPr lang="en-US" sz="1250" dirty="0">
                <a:solidFill>
                  <a:srgbClr val="252525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· 상태 확인: http://127.0.0.1:8000/health
</a:t>
            </a:r>
            <a:pPr indent="0" marL="0">
              <a:lnSpc>
                <a:spcPct val="95000"/>
              </a:lnSpc>
              <a:buNone/>
            </a:pPr>
            <a:r>
              <a:rPr lang="en-US" sz="1250" dirty="0">
                <a:solidFill>
                  <a:srgbClr val="252525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· API 문서: http://127.0.0.1:8000/docs</a:t>
            </a:r>
            <a:endParaRPr lang="en-US" sz="1250" dirty="0"/>
          </a:p>
        </p:txBody>
      </p:sp>
      <p:sp>
        <p:nvSpPr>
          <p:cNvPr id="10" name="Text 8"/>
          <p:cNvSpPr/>
          <p:nvPr/>
        </p:nvSpPr>
        <p:spPr>
          <a:xfrm>
            <a:off x="6400800" y="3886200"/>
            <a:ext cx="2743200" cy="27432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algn="l" indent="0" marL="0">
              <a:lnSpc>
                <a:spcPct val="95000"/>
              </a:lnSpc>
              <a:buNone/>
            </a:pPr>
            <a:r>
              <a:rPr lang="en-US" sz="1200" b="1" dirty="0">
                <a:solidFill>
                  <a:srgbClr val="2F5F5B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주요 API 엔드포인트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6400800" y="4370832"/>
            <a:ext cx="4480560" cy="54864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algn="l" indent="0" marL="0">
              <a:lnSpc>
                <a:spcPct val="95000"/>
              </a:lnSpc>
              <a:buNone/>
            </a:pPr>
            <a:r>
              <a:rPr lang="en-US" sz="1250" dirty="0">
                <a:solidFill>
                  <a:srgbClr val="252525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GET /health</a:t>
            </a:r>
            <a:endParaRPr lang="en-US" sz="1250" dirty="0"/>
          </a:p>
          <a:p>
            <a:pPr algn="l" indent="0" marL="0">
              <a:lnSpc>
                <a:spcPct val="95000"/>
              </a:lnSpc>
              <a:buNone/>
            </a:pPr>
            <a:r>
              <a:rPr lang="en-US" sz="1250" dirty="0">
                <a:solidFill>
                  <a:srgbClr val="252525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GET /docs</a:t>
            </a:r>
            <a:endParaRPr lang="en-US" sz="1250" dirty="0"/>
          </a:p>
        </p:txBody>
      </p:sp>
      <p:sp>
        <p:nvSpPr>
          <p:cNvPr id="12" name="Text 10"/>
          <p:cNvSpPr/>
          <p:nvPr/>
        </p:nvSpPr>
        <p:spPr>
          <a:xfrm>
            <a:off x="11201400" y="6382512"/>
            <a:ext cx="4572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50" dirty="0">
                <a:solidFill>
                  <a:srgbClr val="6C625B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15</a:t>
            </a:r>
            <a:endParaRPr lang="en-US" sz="750" dirty="0"/>
          </a:p>
        </p:txBody>
      </p:sp>
      <p:sp>
        <p:nvSpPr>
          <p:cNvPr id="13" name="Shape 11"/>
          <p:cNvSpPr/>
          <p:nvPr/>
        </p:nvSpPr>
        <p:spPr>
          <a:xfrm>
            <a:off x="685800" y="6272784"/>
            <a:ext cx="10287000" cy="0"/>
          </a:xfrm>
          <a:prstGeom prst="line">
            <a:avLst/>
          </a:prstGeom>
          <a:noFill/>
          <a:ln w="6985">
            <a:solidFill>
              <a:srgbClr val="B8AEA5"/>
            </a:solidFill>
            <a:prstDash val="solid"/>
          </a:ln>
        </p:spPr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7F1E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85800" y="475488"/>
            <a:ext cx="96012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252525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데이터 기준과 한계</a:t>
            </a:r>
            <a:endParaRPr lang="en-US" sz="2500" dirty="0"/>
          </a:p>
        </p:txBody>
      </p:sp>
      <p:sp>
        <p:nvSpPr>
          <p:cNvPr id="3" name="Shape 1"/>
          <p:cNvSpPr/>
          <p:nvPr/>
        </p:nvSpPr>
        <p:spPr>
          <a:xfrm>
            <a:off x="685800" y="1024128"/>
            <a:ext cx="10789920" cy="0"/>
          </a:xfrm>
          <a:prstGeom prst="line">
            <a:avLst/>
          </a:prstGeom>
          <a:noFill/>
          <a:ln w="10160">
            <a:solidFill>
              <a:srgbClr val="252525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914400" y="1691640"/>
            <a:ext cx="2377440" cy="25603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algn="l" indent="0" marL="0">
              <a:lnSpc>
                <a:spcPct val="95000"/>
              </a:lnSpc>
              <a:buNone/>
            </a:pPr>
            <a:r>
              <a:rPr lang="en-US" sz="1400" b="1" dirty="0">
                <a:solidFill>
                  <a:srgbClr val="2F5F5B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가격·거래 데이터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3474720" y="1709928"/>
            <a:ext cx="7223760" cy="50292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algn="l" indent="0" marL="0">
              <a:lnSpc>
                <a:spcPct val="95000"/>
              </a:lnSpc>
              <a:buNone/>
            </a:pPr>
            <a:r>
              <a:rPr lang="en-US" sz="1250" dirty="0">
                <a:solidFill>
                  <a:srgbClr val="252525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KRX ETF 일별 데이터 기준입니다. 응답의 as_of_date와 data_origin으로 기준일과 출처를 확인합니다.</a:t>
            </a:r>
            <a:endParaRPr lang="en-US" sz="1250" dirty="0"/>
          </a:p>
        </p:txBody>
      </p:sp>
      <p:sp>
        <p:nvSpPr>
          <p:cNvPr id="6" name="Shape 4"/>
          <p:cNvSpPr/>
          <p:nvPr/>
        </p:nvSpPr>
        <p:spPr>
          <a:xfrm>
            <a:off x="914400" y="2350008"/>
            <a:ext cx="9875520" cy="0"/>
          </a:xfrm>
          <a:prstGeom prst="line">
            <a:avLst/>
          </a:prstGeom>
          <a:noFill/>
          <a:ln w="6350">
            <a:solidFill>
              <a:srgbClr val="B8AEA5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914400" y="2697480"/>
            <a:ext cx="2377440" cy="25603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algn="l" indent="0" marL="0">
              <a:lnSpc>
                <a:spcPct val="95000"/>
              </a:lnSpc>
              <a:buNone/>
            </a:pPr>
            <a:r>
              <a:rPr lang="en-US" sz="1400" b="1" dirty="0">
                <a:solidFill>
                  <a:srgbClr val="2F5F5B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정량 지표 한계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3474720" y="2715768"/>
            <a:ext cx="7223760" cy="50292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algn="l" indent="0" marL="0">
              <a:lnSpc>
                <a:spcPct val="95000"/>
              </a:lnSpc>
              <a:buNone/>
            </a:pPr>
            <a:r>
              <a:rPr lang="en-US" sz="1250" dirty="0">
                <a:solidFill>
                  <a:srgbClr val="252525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종가 기준이며 조정 종가가 아닙니다. 저장 이력이 짧거나 주간 관측치가 부족하면 일부 지표는 산출되지 않을 수 있습니다.</a:t>
            </a:r>
            <a:endParaRPr lang="en-US" sz="1250" dirty="0"/>
          </a:p>
        </p:txBody>
      </p:sp>
      <p:sp>
        <p:nvSpPr>
          <p:cNvPr id="9" name="Shape 7"/>
          <p:cNvSpPr/>
          <p:nvPr/>
        </p:nvSpPr>
        <p:spPr>
          <a:xfrm>
            <a:off x="914400" y="3355848"/>
            <a:ext cx="9875520" cy="0"/>
          </a:xfrm>
          <a:prstGeom prst="line">
            <a:avLst/>
          </a:prstGeom>
          <a:noFill/>
          <a:ln w="6350">
            <a:solidFill>
              <a:srgbClr val="B8AEA5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914400" y="3703320"/>
            <a:ext cx="2377440" cy="25603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algn="l" indent="0" marL="0">
              <a:lnSpc>
                <a:spcPct val="95000"/>
              </a:lnSpc>
              <a:buNone/>
            </a:pPr>
            <a:r>
              <a:rPr lang="en-US" sz="1400" b="1" dirty="0">
                <a:solidFill>
                  <a:srgbClr val="2F5F5B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뉴스 감성 정보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3474720" y="3721608"/>
            <a:ext cx="7223760" cy="50292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algn="l" indent="0" marL="0">
              <a:lnSpc>
                <a:spcPct val="95000"/>
              </a:lnSpc>
              <a:buNone/>
            </a:pPr>
            <a:r>
              <a:rPr lang="en-US" sz="1250" dirty="0">
                <a:solidFill>
                  <a:srgbClr val="252525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수집 시점과 검증된 기사에 의존하는 보조 정보입니다. 사실 확인이나 수익 예측을 대체하지 않습니다.</a:t>
            </a:r>
            <a:endParaRPr lang="en-US" sz="1250" dirty="0"/>
          </a:p>
        </p:txBody>
      </p:sp>
      <p:sp>
        <p:nvSpPr>
          <p:cNvPr id="12" name="Shape 10"/>
          <p:cNvSpPr/>
          <p:nvPr/>
        </p:nvSpPr>
        <p:spPr>
          <a:xfrm>
            <a:off x="914400" y="4361688"/>
            <a:ext cx="9875520" cy="0"/>
          </a:xfrm>
          <a:prstGeom prst="line">
            <a:avLst/>
          </a:prstGeom>
          <a:noFill/>
          <a:ln w="6350">
            <a:solidFill>
              <a:srgbClr val="B8AEA5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914400" y="4709160"/>
            <a:ext cx="2377440" cy="25603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algn="l" indent="0" marL="0">
              <a:lnSpc>
                <a:spcPct val="95000"/>
              </a:lnSpc>
              <a:buNone/>
            </a:pPr>
            <a:r>
              <a:rPr lang="en-US" sz="1400" b="1" dirty="0">
                <a:solidFill>
                  <a:srgbClr val="2F5F5B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최종 책임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3474720" y="4727448"/>
            <a:ext cx="7223760" cy="50292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algn="l" indent="0" marL="0">
              <a:lnSpc>
                <a:spcPct val="95000"/>
              </a:lnSpc>
              <a:buNone/>
            </a:pPr>
            <a:r>
              <a:rPr lang="en-US" sz="1250" dirty="0">
                <a:solidFill>
                  <a:srgbClr val="252525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최종 투자 판단과 책임은 사용자에게 있습니다.</a:t>
            </a:r>
            <a:endParaRPr lang="en-US" sz="1250" dirty="0"/>
          </a:p>
        </p:txBody>
      </p:sp>
      <p:sp>
        <p:nvSpPr>
          <p:cNvPr id="15" name="Text 13"/>
          <p:cNvSpPr/>
          <p:nvPr/>
        </p:nvSpPr>
        <p:spPr>
          <a:xfrm>
            <a:off x="914400" y="5715000"/>
            <a:ext cx="9509760" cy="27432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algn="l" indent="0" marL="0">
              <a:lnSpc>
                <a:spcPct val="95000"/>
              </a:lnSpc>
              <a:buNone/>
            </a:pPr>
            <a:r>
              <a:rPr lang="en-US" sz="1250" dirty="0">
                <a:solidFill>
                  <a:srgbClr val="6C625B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이 슬라이드는 발표 말미에 반드시 남겨야 하는 면책·해석 기준입니다.</a:t>
            </a:r>
            <a:endParaRPr lang="en-US" sz="1250" dirty="0"/>
          </a:p>
        </p:txBody>
      </p:sp>
      <p:sp>
        <p:nvSpPr>
          <p:cNvPr id="16" name="Text 14"/>
          <p:cNvSpPr/>
          <p:nvPr/>
        </p:nvSpPr>
        <p:spPr>
          <a:xfrm>
            <a:off x="11201400" y="6382512"/>
            <a:ext cx="4572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50" dirty="0">
                <a:solidFill>
                  <a:srgbClr val="6C625B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16</a:t>
            </a:r>
            <a:endParaRPr lang="en-US" sz="750" dirty="0"/>
          </a:p>
        </p:txBody>
      </p:sp>
      <p:sp>
        <p:nvSpPr>
          <p:cNvPr id="17" name="Shape 15"/>
          <p:cNvSpPr/>
          <p:nvPr/>
        </p:nvSpPr>
        <p:spPr>
          <a:xfrm>
            <a:off x="685800" y="6272784"/>
            <a:ext cx="10287000" cy="0"/>
          </a:xfrm>
          <a:prstGeom prst="line">
            <a:avLst/>
          </a:prstGeom>
          <a:noFill/>
          <a:ln w="6985">
            <a:solidFill>
              <a:srgbClr val="B8AEA5"/>
            </a:solidFill>
            <a:prstDash val="solid"/>
          </a:ln>
        </p:spPr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Noto Sans CJK KR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Noto Sans CJK KR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16</Slides>
  <Notes>16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16</vt:i4>
      </vt:variant>
    </vt:vector>
  </HeadingPairs>
  <TitlesOfParts>
    <vt:vector size="19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</vt:vector>
  </TitlesOfParts>
  <Company>Workspace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Finance Analysis MVP</dc:title>
  <dc:subject>Finance Analysis MVP revised deck</dc:subject>
  <dc:creator>OpenAI</dc:creator>
  <cp:lastModifiedBy>OpenAI</cp:lastModifiedBy>
  <cp:revision>1</cp:revision>
  <dcterms:created xsi:type="dcterms:W3CDTF">2026-08-11T10:26:21Z</dcterms:created>
  <dcterms:modified xsi:type="dcterms:W3CDTF">2026-08-11T10:26:21Z</dcterms:modified>
</cp:coreProperties>
</file>