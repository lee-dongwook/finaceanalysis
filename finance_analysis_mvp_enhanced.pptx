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457200"/>
            <a:ext cx="2743200" cy="274320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</a:rPr>
              <a:t>TEAM PROJECT  |  AI · FINTECH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8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MVP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FF8"/>
                </a:solidFill>
              </a:rPr>
              <a:t>KRX 국내 ETF 정량 분석 + 뉴스 감성 웹 애플리케이션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1122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54864" cy="6217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404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투자 조건 맞춤 필터링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384048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112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3840480"/>
            <a:ext cx="54864" cy="6217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38404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정량 지표 자동 계산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384048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1122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3840480"/>
            <a:ext cx="54864" cy="6217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38404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뉴스 감성 AI 분석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0C8"/>
                </a:solidFill>
              </a:rPr>
              <a:t>※ 투자 권유가 아니며 성과를 보장하지 않습니다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문제의식과 목표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4754880"/>
          </a:xfrm>
          <a:prstGeom prst="roundRect">
            <a:avLst>
              <a:gd name="adj" fmla="val 3846"/>
            </a:avLst>
          </a:prstGeom>
          <a:solidFill>
            <a:srgbClr val="0D1B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530352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54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  문제의식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흩어진 정보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가격 데이터·정량 지표·뉴스 흐름을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각기 다른 화면에서 확인 필요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57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611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긴 비교 시간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886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후보 ETF를 좁히는 기준이 분산되어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의사결정 준비에 시간이 오래 걸림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937760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892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근거 부재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5166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최종 판단 시 "왜 이 ETF인가"를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설명할 구조화된 근거 없음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3846"/>
            </a:avLst>
          </a:prstGeom>
          <a:solidFill>
            <a:srgbClr val="11224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554480"/>
            <a:ext cx="5486400" cy="502920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554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 프로젝트 목표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233172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1A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</a:rPr>
              <a:t>원스톱 통합 화면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2651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조건 입력 → 후보 선별 → 분석 결과를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단일 화면에서 일관된 흐름으로 제공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361188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1A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40880" y="3657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</a:rPr>
              <a:t>정량 + 뉴스 근거 병렬 제시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3931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수익률·변동성 지표와 뉴스 감성 정보를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동시에 비교해 의사결정 보조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46520" y="489204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1A3A6B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001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40880" y="4937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</a:rPr>
              <a:t>MVP 범위 명확화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52120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실행 가능한 기능과 한계를 투명하게 표시,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과도한 약속 없이 근거 구조화에 집중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0080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0A84B5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방향  |  추천을 "확정"하지 않고, 사용자가 확인할 수 있는 근거를 구조화합니다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 한눈에 보기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07008" y="1417320"/>
            <a:ext cx="512064" cy="51206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417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87168" y="1581912"/>
            <a:ext cx="146304" cy="109728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527048"/>
            <a:ext cx="64008" cy="219456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</a:rPr>
              <a:t>조건 입력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2011680" cy="3931920"/>
          </a:xfrm>
          <a:prstGeom prst="roundRect">
            <a:avLst>
              <a:gd name="adj" fmla="val 6364"/>
            </a:avLst>
          </a:prstGeom>
          <a:solidFill>
            <a:srgbClr val="1122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2011680" cy="6400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2834640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투자금 100만~10억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493008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4015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투자 기간 1~60개월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4151376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05993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위험 성향·허용 손실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4809744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71830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선호 자산 유형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5468112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3766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관심 테마·산업군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01568" y="1417320"/>
            <a:ext cx="512064" cy="512064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417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81728" y="1581912"/>
            <a:ext cx="146304" cy="109728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1527048"/>
            <a:ext cx="64008" cy="219456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4B5"/>
                </a:solidFill>
              </a:rPr>
              <a:t>후보 선별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651760" y="2514600"/>
            <a:ext cx="2011680" cy="3931920"/>
          </a:xfrm>
          <a:prstGeom prst="roundRect">
            <a:avLst>
              <a:gd name="adj" fmla="val 6364"/>
            </a:avLst>
          </a:prstGeom>
          <a:solidFill>
            <a:srgbClr val="112244"/>
          </a:solidFill>
          <a:ln/>
        </p:spPr>
      </p:sp>
      <p:sp>
        <p:nvSpPr>
          <p:cNvPr id="30" name="Shape 28"/>
          <p:cNvSpPr/>
          <p:nvPr/>
        </p:nvSpPr>
        <p:spPr>
          <a:xfrm>
            <a:off x="2651760" y="2514600"/>
            <a:ext cx="2011680" cy="64008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31" name="Shape 29"/>
          <p:cNvSpPr/>
          <p:nvPr/>
        </p:nvSpPr>
        <p:spPr>
          <a:xfrm>
            <a:off x="2816352" y="2834640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9232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KRX ETF 전체 스캔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16352" y="3493008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34015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거래 데이터 유효성 검증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16352" y="4151376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405993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투자금 매수 가능 여부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16352" y="4809744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9232" y="471830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최대 200개 1차 선별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96128" y="1417320"/>
            <a:ext cx="512064" cy="51206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1417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76288" y="1581912"/>
            <a:ext cx="146304" cy="109728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42" name="Shape 40"/>
          <p:cNvSpPr/>
          <p:nvPr/>
        </p:nvSpPr>
        <p:spPr>
          <a:xfrm>
            <a:off x="6949440" y="1527048"/>
            <a:ext cx="64008" cy="219456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</a:rPr>
              <a:t>정량 계산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846320" y="2514600"/>
            <a:ext cx="2011680" cy="3931920"/>
          </a:xfrm>
          <a:prstGeom prst="roundRect">
            <a:avLst>
              <a:gd name="adj" fmla="val 6364"/>
            </a:avLst>
          </a:prstGeom>
          <a:solidFill>
            <a:srgbClr val="112244"/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2514600"/>
            <a:ext cx="201168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6" name="Shape 44"/>
          <p:cNvSpPr/>
          <p:nvPr/>
        </p:nvSpPr>
        <p:spPr>
          <a:xfrm>
            <a:off x="5010912" y="2834640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3792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기간 수익률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10912" y="3493008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3792" y="34015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연환산 변동성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10912" y="4151376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93792" y="405993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최대낙폭(MDD)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10912" y="4809744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93792" y="471830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샤프지수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10912" y="5468112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53766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평균 거래대금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790688" y="1417320"/>
            <a:ext cx="512064" cy="512064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90688" y="1417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4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70848" y="1581912"/>
            <a:ext cx="146304" cy="109728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0" y="1527048"/>
            <a:ext cx="64008" cy="219456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60" name="Text 58"/>
          <p:cNvSpPr/>
          <p:nvPr/>
        </p:nvSpPr>
        <p:spPr>
          <a:xfrm>
            <a:off x="704088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030"/>
                </a:solidFill>
              </a:rPr>
              <a:t>뉴스 확인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040880" y="2514600"/>
            <a:ext cx="2011680" cy="3931920"/>
          </a:xfrm>
          <a:prstGeom prst="roundRect">
            <a:avLst>
              <a:gd name="adj" fmla="val 6364"/>
            </a:avLst>
          </a:prstGeom>
          <a:solidFill>
            <a:srgbClr val="112244"/>
          </a:solidFill>
          <a:ln/>
        </p:spPr>
      </p:sp>
      <p:sp>
        <p:nvSpPr>
          <p:cNvPr id="62" name="Shape 60"/>
          <p:cNvSpPr/>
          <p:nvPr/>
        </p:nvSpPr>
        <p:spPr>
          <a:xfrm>
            <a:off x="7040880" y="2514600"/>
            <a:ext cx="2011680" cy="64008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63" name="Shape 61"/>
          <p:cNvSpPr/>
          <p:nvPr/>
        </p:nvSpPr>
        <p:spPr>
          <a:xfrm>
            <a:off x="7205472" y="2834640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88352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NAVER 뉴스 수집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05472" y="3493008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88352" y="34015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검증 뉴스 수 집계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205472" y="4151376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88352" y="405993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OpenAI 감성 점수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205472" y="4809744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88352" y="471830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핵심 이슈·위험 요인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985248" y="141732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985248" y="1417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5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23544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결과 화면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9235440" y="2514600"/>
            <a:ext cx="2011680" cy="3931920"/>
          </a:xfrm>
          <a:prstGeom prst="roundRect">
            <a:avLst>
              <a:gd name="adj" fmla="val 6364"/>
            </a:avLst>
          </a:prstGeom>
          <a:solidFill>
            <a:srgbClr val="112244"/>
          </a:solidFill>
          <a:ln/>
        </p:spPr>
      </p:sp>
      <p:sp>
        <p:nvSpPr>
          <p:cNvPr id="75" name="Shape 73"/>
          <p:cNvSpPr/>
          <p:nvPr/>
        </p:nvSpPr>
        <p:spPr>
          <a:xfrm>
            <a:off x="9235440" y="2514600"/>
            <a:ext cx="201168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9400032" y="283464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82912" y="27432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순위표 &amp; 비교 차트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400032" y="349300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82912" y="34015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레이더 차트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400032" y="415137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582912" y="405993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선정·위험 근거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400032" y="480974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82912" y="471830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구성 종목 정보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457200" y="6473952"/>
            <a:ext cx="11247120" cy="274320"/>
          </a:xfrm>
          <a:prstGeom prst="roundRect">
            <a:avLst>
              <a:gd name="adj" fmla="val 23333"/>
            </a:avLst>
          </a:prstGeom>
          <a:solidFill>
            <a:srgbClr val="0A84B5"/>
          </a:solidFill>
          <a:ln/>
        </p:spPr>
      </p:sp>
      <p:sp>
        <p:nvSpPr>
          <p:cNvPr id="85" name="Text 8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최종 산출물은 ETF 점수·순위가 아니라, "왜 후보가 되었는지"를 설명하는 근거입니다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기능과 차별점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566160" cy="4937760"/>
          </a:xfrm>
          <a:prstGeom prst="roundRect">
            <a:avLst>
              <a:gd name="adj" fmla="val 5128"/>
            </a:avLst>
          </a:prstGeom>
          <a:solidFill>
            <a:srgbClr val="0D1B3E"/>
          </a:solidFill>
          <a:ln/>
        </p:spPr>
      </p:sp>
      <p:sp>
        <p:nvSpPr>
          <p:cNvPr id="8" name="Shape 6"/>
          <p:cNvSpPr/>
          <p:nvPr/>
        </p:nvSpPr>
        <p:spPr>
          <a:xfrm>
            <a:off x="1874520" y="1783080"/>
            <a:ext cx="731520" cy="73152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B5"/>
                </a:solidFill>
              </a:rPr>
              <a:t>원스톱 통합 분석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273552"/>
            <a:ext cx="246888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조건 입력·KRX 시세·정량 지표·뉴스 정보를 한 화면에서 이어서 확인. 여러 탭 전환 없이 비교 기준 유지.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3566160" cy="4937760"/>
          </a:xfrm>
          <a:prstGeom prst="roundRect">
            <a:avLst>
              <a:gd name="adj" fmla="val 5128"/>
            </a:avLst>
          </a:prstGeom>
          <a:solidFill>
            <a:srgbClr val="0D1B3E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</a:rPr>
              <a:t>뉴스 감성 AI 분석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3273552"/>
            <a:ext cx="246888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42900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OpenAI API로 뉴스 감성 점수·핵심 이슈·위험 요인을 자동 추출. 단순 헤드라인이 아닌 구조화된 근거 제공.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554480"/>
            <a:ext cx="3566160" cy="4937760"/>
          </a:xfrm>
          <a:prstGeom prst="roundRect">
            <a:avLst>
              <a:gd name="adj" fmla="val 5128"/>
            </a:avLst>
          </a:prstGeom>
          <a:solidFill>
            <a:srgbClr val="0D1B3E"/>
          </a:solidFill>
          <a:ln/>
        </p:spPr>
      </p:sp>
      <p:sp>
        <p:nvSpPr>
          <p:cNvPr id="20" name="Shape 18"/>
          <p:cNvSpPr/>
          <p:nvPr/>
        </p:nvSpPr>
        <p:spPr>
          <a:xfrm>
            <a:off x="9555480" y="1783080"/>
            <a:ext cx="731520" cy="7315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842"/>
                </a:solidFill>
              </a:rPr>
              <a:t>맞춤형 필터 기준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0" y="3273552"/>
            <a:ext cx="246888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42900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투자금·기간·위험 성향·허용 손실·선호 자산 유형을 반영해 KRX 전체에서 최적 후보군 자동 선별.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0A84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차별점  |  모든 판단을 자동화하는 것이 아니라, 여러 근거를 한 번에 비교할 수 있게 만드는 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팀원별 역할 및 수행 업무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112244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737360"/>
            <a:ext cx="548640" cy="5486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B5"/>
                </a:solidFill>
              </a:rPr>
              <a:t>프론트엔드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852928"/>
            <a:ext cx="182880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63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Vite + TypeScript 기반 화면 구현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09728" cy="109728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31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API 연동과 데이터 시각화 처리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09728" cy="109728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00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사용자 조건 입력 UI 설계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797296"/>
            <a:ext cx="109728" cy="109728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669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비교 차트·레이더 차트 렌더링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1122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</a:rPr>
              <a:t>백엔드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2852928"/>
            <a:ext cx="18288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319125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063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FastAPI 기반 REST API 설계·구현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405993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931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KRX ETF 데이터 수집 파이프라인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492861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4800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NAVER 뉴스 연동 및 검증 로직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579729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5669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SQLite DB 설계 및 연동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112244"/>
          </a:solidFill>
          <a:ln/>
        </p:spPr>
      </p:sp>
      <p:sp>
        <p:nvSpPr>
          <p:cNvPr id="34" name="Shape 32"/>
          <p:cNvSpPr/>
          <p:nvPr/>
        </p:nvSpPr>
        <p:spPr>
          <a:xfrm>
            <a:off x="7178040" y="1737360"/>
            <a:ext cx="548640" cy="5486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1792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데이터 분석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2852928"/>
            <a:ext cx="182880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3191256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063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정량 지표 계산 로직 (수익률·MDD·샤프)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4059936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931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뉴스 감성 분석 통합 (OpenAI)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928616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800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이상값 처리 및 데이터 정제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5797296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5669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DB 관리 및 캐싱 전략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06840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1122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0" y="1737360"/>
            <a:ext cx="548640" cy="5486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0982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6030"/>
                </a:solidFill>
              </a:rPr>
              <a:t>프로젝트 리드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418320" y="2852928"/>
            <a:ext cx="1828800" cy="36576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51" name="Shape 49"/>
          <p:cNvSpPr/>
          <p:nvPr/>
        </p:nvSpPr>
        <p:spPr>
          <a:xfrm>
            <a:off x="9189720" y="3191256"/>
            <a:ext cx="109728" cy="109728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72600" y="3063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아키텍처·기술 스택 결정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189720" y="4059936"/>
            <a:ext cx="109728" cy="109728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72600" y="3931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일정 조율 및 산출물 관리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189720" y="4928616"/>
            <a:ext cx="109728" cy="109728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72600" y="4800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요구사항 정의·기능 명세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89720" y="5797296"/>
            <a:ext cx="109728" cy="109728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72600" y="5669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테스트 계획 수립 및 총괄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수행 과정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2606040"/>
            <a:ext cx="182880" cy="54864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8" name="Shape 6"/>
          <p:cNvSpPr/>
          <p:nvPr/>
        </p:nvSpPr>
        <p:spPr>
          <a:xfrm>
            <a:off x="5989320" y="2606040"/>
            <a:ext cx="182880" cy="54864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0" y="2606040"/>
            <a:ext cx="182880" cy="54864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1691640"/>
            <a:ext cx="896112" cy="384048"/>
          </a:xfrm>
          <a:prstGeom prst="roundRect">
            <a:avLst>
              <a:gd name="adj" fmla="val 23810"/>
            </a:avLst>
          </a:prstGeom>
          <a:solidFill>
            <a:srgbClr val="0A84B5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169164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4B5"/>
                </a:solidFill>
              </a:rPr>
              <a:t>기획·설계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2670048"/>
            <a:ext cx="192024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962656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8529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요구사항 정의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648456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5387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기능 명세 작성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334256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224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API 계약 설계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020056"/>
            <a:ext cx="128016" cy="128016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910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아키텍처 설계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0A84B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806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📄 기능 정의서 + API 계약서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26" name="Shape 24"/>
          <p:cNvSpPr/>
          <p:nvPr/>
        </p:nvSpPr>
        <p:spPr>
          <a:xfrm>
            <a:off x="4178808" y="1691640"/>
            <a:ext cx="896112" cy="384048"/>
          </a:xfrm>
          <a:prstGeom prst="roundRect">
            <a:avLst>
              <a:gd name="adj" fmla="val 23810"/>
            </a:avLst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4178808" y="169164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01568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</a:rPr>
              <a:t>구현·통합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75888" y="2670048"/>
            <a:ext cx="192024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1296" y="2962656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28529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백엔드 API 개발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11296" y="3648456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35387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프론트엔드 화면 구현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511296" y="4334256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4224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SQLite 연동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11296" y="5020056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12464" y="4910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기능 통합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01568" y="58064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00C2A8"/>
          </a:solidFill>
          <a:ln/>
        </p:spPr>
      </p:sp>
      <p:sp>
        <p:nvSpPr>
          <p:cNvPr id="39" name="Text 37"/>
          <p:cNvSpPr/>
          <p:nvPr/>
        </p:nvSpPr>
        <p:spPr>
          <a:xfrm>
            <a:off x="3401568" y="5806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📄 동작하는 MVP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63056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41" name="Shape 39"/>
          <p:cNvSpPr/>
          <p:nvPr/>
        </p:nvSpPr>
        <p:spPr>
          <a:xfrm>
            <a:off x="7031736" y="1691640"/>
            <a:ext cx="896112" cy="384048"/>
          </a:xfrm>
          <a:prstGeom prst="roundRect">
            <a:avLst>
              <a:gd name="adj" fmla="val 23810"/>
            </a:avLst>
          </a:prstGeom>
          <a:solidFill>
            <a:srgbClr val="F5C842"/>
          </a:solidFill>
          <a:ln/>
        </p:spPr>
      </p:sp>
      <p:sp>
        <p:nvSpPr>
          <p:cNvPr id="42" name="Text 40"/>
          <p:cNvSpPr/>
          <p:nvPr/>
        </p:nvSpPr>
        <p:spPr>
          <a:xfrm>
            <a:off x="7031736" y="169164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03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254496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</a:rPr>
              <a:t>테스트·검증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528816" y="2670048"/>
            <a:ext cx="192024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5" name="Shape 43"/>
          <p:cNvSpPr/>
          <p:nvPr/>
        </p:nvSpPr>
        <p:spPr>
          <a:xfrm>
            <a:off x="6364224" y="2962656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28529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단위 테스트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64224" y="3648456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35387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통합 테스트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64224" y="4334256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4224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버그 수정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64224" y="5020056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4910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성능 최적화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254496" y="58064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F5C842"/>
          </a:solidFill>
          <a:ln/>
        </p:spPr>
      </p:sp>
      <p:sp>
        <p:nvSpPr>
          <p:cNvPr id="54" name="Text 52"/>
          <p:cNvSpPr/>
          <p:nvPr/>
        </p:nvSpPr>
        <p:spPr>
          <a:xfrm>
            <a:off x="6254496" y="5806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📄 테스트 계획서 + 버그 리포트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015984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56" name="Shape 54"/>
          <p:cNvSpPr/>
          <p:nvPr/>
        </p:nvSpPr>
        <p:spPr>
          <a:xfrm>
            <a:off x="9884664" y="1691640"/>
            <a:ext cx="896112" cy="384048"/>
          </a:xfrm>
          <a:prstGeom prst="roundRect">
            <a:avLst>
              <a:gd name="adj" fmla="val 23810"/>
            </a:avLst>
          </a:prstGeom>
          <a:solidFill>
            <a:srgbClr val="E06030"/>
          </a:solidFill>
          <a:ln/>
        </p:spPr>
      </p:sp>
      <p:sp>
        <p:nvSpPr>
          <p:cNvPr id="57" name="Text 55"/>
          <p:cNvSpPr/>
          <p:nvPr/>
        </p:nvSpPr>
        <p:spPr>
          <a:xfrm>
            <a:off x="9884664" y="169164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04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107424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030"/>
                </a:solidFill>
              </a:rPr>
              <a:t>배포·운영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9381744" y="2670048"/>
            <a:ext cx="1920240" cy="36576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60" name="Shape 58"/>
          <p:cNvSpPr/>
          <p:nvPr/>
        </p:nvSpPr>
        <p:spPr>
          <a:xfrm>
            <a:off x="9217152" y="2962656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18320" y="28529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초기 배포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217152" y="3648456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18320" y="35387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성능 확인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217152" y="4334256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18320" y="4224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피드백 수집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217152" y="5020056"/>
            <a:ext cx="128016" cy="128016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18320" y="4910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개선 계획 수립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07424" y="58064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E06030"/>
          </a:solidFill>
          <a:ln/>
        </p:spPr>
      </p:sp>
      <p:sp>
        <p:nvSpPr>
          <p:cNvPr id="69" name="Text 67"/>
          <p:cNvSpPr/>
          <p:nvPr/>
        </p:nvSpPr>
        <p:spPr>
          <a:xfrm>
            <a:off x="9107424" y="5806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📄 실행 가이드 + 피드백 정리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결과물 및 시연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11224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23160"/>
            <a:ext cx="640080" cy="64008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84B5"/>
                </a:solidFill>
              </a:rPr>
              <a:t>구현 결과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417320" y="2258568"/>
            <a:ext cx="411480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2377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개발된 기능 전체와 시스템 구성.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백엔드·프론트엔드·DB 연동 상태 확인.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1122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242316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</a:rPr>
              <a:t>실행 화면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132320" y="2258568"/>
            <a:ext cx="41148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377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웹 애플리케이션의 주요 화면.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조건 입력 → 후보 목록 → 상세 분석 흐름.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1122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846320"/>
            <a:ext cx="640080" cy="6400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842"/>
                </a:solidFill>
              </a:rPr>
              <a:t>테스트 결과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417320" y="4681728"/>
            <a:ext cx="411480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48006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주요 기능 단위·통합 테스트 보고서.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엣지케이스 처리와 API 안정성 포함.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402336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1122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4846320"/>
            <a:ext cx="640080" cy="64008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▶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3232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030"/>
                </a:solidFill>
              </a:rPr>
              <a:t>시연 영상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132320" y="4681728"/>
            <a:ext cx="4114800" cy="36576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48006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핵심 기능 사용 흐름 녹화 영상.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8"/>
                </a:solidFill>
              </a:rPr>
              <a:t>실제 ETF 검색부터 결과 확인까지.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0A84B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발표 시 실제 화면 캡처 또는 짧은 녹화 영상을 이 슬라이드 다음에 배치하면 자연스럽습니다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구현 범위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0D1B3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664208"/>
            <a:ext cx="502920" cy="50292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664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B5"/>
                </a:solidFill>
              </a:rPr>
              <a:t>투자 조건 입력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2221992"/>
            <a:ext cx="512064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514600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404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투자금: 100만 원 ~ 10억 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2825496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715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투자 기간: 1 ~ 60개월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136392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266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위험 성향 및 허용 손실률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3447288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337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선호 자산 유형 (주식·채권·배당)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3758184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648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현금성 비중, 관심 테마·산업군 키워드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55448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0D1B3E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6792" y="1664208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1664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</a:rPr>
              <a:t>후보 선별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36792" y="2221992"/>
            <a:ext cx="512064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8232" y="251460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2404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KRX ETF 전종목 유효성 검사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28232" y="2825496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2715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가격·거래 데이터 정상 여부 확인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28232" y="3136392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30266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투자금으로 매수 가능한 종목 필터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28232" y="3447288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3337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최대 200개 1차 후보 선별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0D1B3E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" y="4178808"/>
            <a:ext cx="502920" cy="5029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34440" y="4178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</a:rPr>
              <a:t>정량 분석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" y="4736592"/>
            <a:ext cx="512064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" y="5029200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4919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기간 수익률 (종가 기준)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3232" y="5340096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52303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연환산 변동성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" y="565099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" y="55412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최대낙폭 (MDD)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3232" y="5961888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852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샤프지수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" y="6272784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" y="61630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평균 거래대금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72200" y="406908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0D1B3E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6792" y="4178808"/>
            <a:ext cx="502920" cy="50292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6792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49440" y="4178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030"/>
                </a:solidFill>
              </a:rPr>
              <a:t>뉴스·감성 분석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336792" y="4736592"/>
            <a:ext cx="5120640" cy="36576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55" name="Shape 53"/>
          <p:cNvSpPr/>
          <p:nvPr/>
        </p:nvSpPr>
        <p:spPr>
          <a:xfrm>
            <a:off x="6428232" y="5029200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92824" y="4919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NAVER 뉴스 수집 및 검증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28232" y="5340096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92824" y="52303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중복 URL 필터링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28232" y="5650992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92824" y="55412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OpenAI 기반 감성 점수 산출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428232" y="5961888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92824" y="5852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핵심 이슈·위험 요인 자동 추출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투자 조건 입력과 후보 선별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303520" cy="4937760"/>
          </a:xfrm>
          <a:prstGeom prst="roundRect">
            <a:avLst>
              <a:gd name="adj" fmla="val 3333"/>
            </a:avLst>
          </a:prstGeom>
          <a:solidFill>
            <a:srgbClr val="1122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B5"/>
                </a:solidFill>
              </a:rPr>
              <a:t>📝  입력 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502920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304288"/>
            <a:ext cx="4983480" cy="566928"/>
          </a:xfrm>
          <a:prstGeom prst="roundRect">
            <a:avLst>
              <a:gd name="adj" fmla="val 16129"/>
            </a:avLst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042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투자금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2414016"/>
            <a:ext cx="36576" cy="34747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100만 원 ~ 10억 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980944"/>
            <a:ext cx="4983480" cy="566928"/>
          </a:xfrm>
          <a:prstGeom prst="roundRect">
            <a:avLst>
              <a:gd name="adj" fmla="val 16129"/>
            </a:avLst>
          </a:prstGeom>
          <a:solidFill>
            <a:srgbClr val="1A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9809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투자 기간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3090672"/>
            <a:ext cx="36576" cy="34747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29809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1 ~ 60개월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657600"/>
            <a:ext cx="4983480" cy="566928"/>
          </a:xfrm>
          <a:prstGeom prst="roundRect">
            <a:avLst>
              <a:gd name="adj" fmla="val 16129"/>
            </a:avLst>
          </a:prstGeom>
          <a:solidFill>
            <a:srgbClr val="1A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657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위험 성향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3767328"/>
            <a:ext cx="36576" cy="34747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3657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허용 손실률 직접 입력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334256"/>
            <a:ext cx="4983480" cy="566928"/>
          </a:xfrm>
          <a:prstGeom prst="roundRect">
            <a:avLst>
              <a:gd name="adj" fmla="val 16129"/>
            </a:avLst>
          </a:prstGeom>
          <a:solidFill>
            <a:srgbClr val="1A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3342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선호 자산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4443984"/>
            <a:ext cx="36576" cy="34747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43342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주식·채권·배당 중 선택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010912"/>
            <a:ext cx="4983480" cy="566928"/>
          </a:xfrm>
          <a:prstGeom prst="roundRect">
            <a:avLst>
              <a:gd name="adj" fmla="val 16129"/>
            </a:avLst>
          </a:prstGeom>
          <a:solidFill>
            <a:srgbClr val="1A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0109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현금성 비중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0" y="5120640"/>
            <a:ext cx="36576" cy="34747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29" name="Text 27"/>
          <p:cNvSpPr/>
          <p:nvPr/>
        </p:nvSpPr>
        <p:spPr>
          <a:xfrm>
            <a:off x="2423160" y="50109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비중 비율 설정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5687568"/>
            <a:ext cx="4983480" cy="566928"/>
          </a:xfrm>
          <a:prstGeom prst="roundRect">
            <a:avLst>
              <a:gd name="adj" fmla="val 16129"/>
            </a:avLst>
          </a:prstGeom>
          <a:solidFill>
            <a:srgbClr val="1A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6875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관심 테마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86000" y="5797296"/>
            <a:ext cx="36576" cy="34747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33" name="Text 31"/>
          <p:cNvSpPr/>
          <p:nvPr/>
        </p:nvSpPr>
        <p:spPr>
          <a:xfrm>
            <a:off x="2423160" y="56875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산업군·키워드 직접 입력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1600200"/>
            <a:ext cx="5486400" cy="4937760"/>
          </a:xfrm>
          <a:prstGeom prst="roundRect">
            <a:avLst>
              <a:gd name="adj" fmla="val 3333"/>
            </a:avLst>
          </a:prstGeom>
          <a:solidFill>
            <a:srgbClr val="112244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</a:rPr>
              <a:t>🔎  선별 기준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09360" y="2121408"/>
            <a:ext cx="521208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2331720"/>
            <a:ext cx="5120640" cy="896112"/>
          </a:xfrm>
          <a:prstGeom prst="roundRect">
            <a:avLst>
              <a:gd name="adj" fmla="val 12245"/>
            </a:avLst>
          </a:prstGeom>
          <a:solidFill>
            <a:srgbClr val="1A3A6B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240487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A84B5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4048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STEP 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43800" y="23317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KRX ETF 데이터에서 가격·거래 데이터가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유효한 종목을 전체 스캔합니다.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3355848"/>
            <a:ext cx="5120640" cy="896112"/>
          </a:xfrm>
          <a:prstGeom prst="roundRect">
            <a:avLst>
              <a:gd name="adj" fmla="val 12245"/>
            </a:avLst>
          </a:prstGeom>
          <a:solidFill>
            <a:srgbClr val="1A3A6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46520" y="342900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0C2A8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4290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STEP 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43800" y="335584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사용자의 투자금으로 매수 가능한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ETF만 1차 후보에 포함합니다.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0" y="4379976"/>
            <a:ext cx="5120640" cy="896112"/>
          </a:xfrm>
          <a:prstGeom prst="roundRect">
            <a:avLst>
              <a:gd name="adj" fmla="val 12245"/>
            </a:avLst>
          </a:prstGeom>
          <a:solidFill>
            <a:srgbClr val="1A3A6B"/>
          </a:solidFill>
          <a:ln/>
        </p:spPr>
      </p:sp>
      <p:sp>
        <p:nvSpPr>
          <p:cNvPr id="46" name="Shape 44"/>
          <p:cNvSpPr/>
          <p:nvPr/>
        </p:nvSpPr>
        <p:spPr>
          <a:xfrm>
            <a:off x="6446520" y="445312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5C842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44531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STEP 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43800" y="4379976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후보는 최대 200개로 제한하여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분석 부하를 관리합니다.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00800" y="5404104"/>
            <a:ext cx="5120640" cy="896112"/>
          </a:xfrm>
          <a:prstGeom prst="roundRect">
            <a:avLst>
              <a:gd name="adj" fmla="val 12245"/>
            </a:avLst>
          </a:prstGeom>
          <a:solidFill>
            <a:srgbClr val="1A3A6B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6520" y="54772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06030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547725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STEP 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43800" y="5404104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입력값이 변경되면 후보군도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즉시 재계산하도록 설계합니다.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수집과 보관 구조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2651760"/>
            <a:ext cx="137160" cy="7315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8" name="Shape 6"/>
          <p:cNvSpPr/>
          <p:nvPr/>
        </p:nvSpPr>
        <p:spPr>
          <a:xfrm>
            <a:off x="6007608" y="2651760"/>
            <a:ext cx="137160" cy="7315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9" name="Shape 7"/>
          <p:cNvSpPr/>
          <p:nvPr/>
        </p:nvSpPr>
        <p:spPr>
          <a:xfrm>
            <a:off x="8860536" y="2651760"/>
            <a:ext cx="137160" cy="73152"/>
          </a:xfrm>
          <a:prstGeom prst="rect">
            <a:avLst/>
          </a:prstGeom>
          <a:solidFill>
            <a:srgbClr val="A0B0C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11" name="Shape 9"/>
          <p:cNvSpPr/>
          <p:nvPr/>
        </p:nvSpPr>
        <p:spPr>
          <a:xfrm>
            <a:off x="1508760" y="1719072"/>
            <a:ext cx="548640" cy="5486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B5"/>
                </a:solidFill>
              </a:rPr>
              <a:t>🔍 스냅샷 확인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871216"/>
            <a:ext cx="182880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9923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서버 시작 시 최신 영업일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ETF 스냅샷과 최근 12개월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이력 보유 여부 확인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361688" y="1719072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01568" y="2395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</a:rPr>
              <a:t>⬇ 결손일 수집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21608" y="2871216"/>
            <a:ext cx="182880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299923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누락된 날짜만 KRX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Open API에서 선별적으로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수집해 중복 호출 방지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23" name="Shape 21"/>
          <p:cNvSpPr/>
          <p:nvPr/>
        </p:nvSpPr>
        <p:spPr>
          <a:xfrm>
            <a:off x="7214616" y="1719072"/>
            <a:ext cx="548640" cy="5486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14616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54496" y="2395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💾 SQLite 저장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74536" y="2871216"/>
            <a:ext cx="182880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6345936" y="299923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ETF 시세·뉴스·구성 종목을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로컬 DB에 저장,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당일 데이터 재사용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15984" y="1554480"/>
            <a:ext cx="2651760" cy="4937760"/>
          </a:xfrm>
          <a:prstGeom prst="roundRect">
            <a:avLst>
              <a:gd name="adj" fmla="val 6207"/>
            </a:avLst>
          </a:prstGeom>
          <a:solidFill>
            <a:srgbClr val="0D1B3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67544" y="1719072"/>
            <a:ext cx="548640" cy="5486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67544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07424" y="2395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6030"/>
                </a:solidFill>
              </a:rPr>
              <a:t>✓ 뉴스 검증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27464" y="2871216"/>
            <a:ext cx="1828800" cy="36576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33" name="Text 31"/>
          <p:cNvSpPr/>
          <p:nvPr/>
        </p:nvSpPr>
        <p:spPr>
          <a:xfrm>
            <a:off x="9198864" y="299923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중복 URL·검색 기간·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ETF 관련성 기준으로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NAVER 뉴스 결과 필터링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1A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💡 KODEX ETF는 삼성자산운용 공식 구성 종목 PDF 조회 가능. 미지원 운용사는 제한 상태 표시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결과 구성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709928"/>
            <a:ext cx="502920" cy="50292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B5"/>
                </a:solidFill>
              </a:rPr>
              <a:t>정량 지표 계산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2267712"/>
            <a:ext cx="512064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560320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459736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종가 기준 기간 수익률 산출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2862072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761488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연환산 변동성 계산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163824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63240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최대낙폭 (MDD) 측정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3465576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36499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샤프지수 (KOFR 기준)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3767328"/>
            <a:ext cx="91440" cy="9144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666744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평균 거래대금 집계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6792" y="1709928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1737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</a:rPr>
              <a:t>뉴스 감성 분석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36792" y="2267712"/>
            <a:ext cx="512064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8232" y="256032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2459736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검증된 뉴스 수 집계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28232" y="2862072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2761488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OpenAI 감성 점수 (-1~+1)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28232" y="3163824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3063240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핵심 이슈 자동 추출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28232" y="3465576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336499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위험 요인 태깅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28232" y="3767328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3666744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수집 시점 기준 보조 정보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" y="4224528"/>
            <a:ext cx="502920" cy="5029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34440" y="4251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포트폴리오 구성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1792" y="4782312"/>
            <a:ext cx="512064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232" y="5074920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4974336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정량 점수 + 뉴스 근거 충족 시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" y="53766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" y="5276088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정보 제공용 포트폴리오 생성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3232" y="5678424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577840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KOFR 가정 환경변수 관리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" y="5980176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" y="587959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주간 표본일 설정 가능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72200" y="4114800"/>
            <a:ext cx="5486400" cy="233172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6792" y="4224528"/>
            <a:ext cx="502920" cy="50292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6792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49440" y="4251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030"/>
                </a:solidFill>
              </a:rPr>
              <a:t>웹 화면 표시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336792" y="4782312"/>
            <a:ext cx="5120640" cy="36576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55" name="Shape 53"/>
          <p:cNvSpPr/>
          <p:nvPr/>
        </p:nvSpPr>
        <p:spPr>
          <a:xfrm>
            <a:off x="6428232" y="5074920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92824" y="4974336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분석 상태 실시간 표시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28232" y="5376672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92824" y="5276088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정렬 가능한 후보 순위표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28232" y="5678424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92824" y="5577840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레이더 차트 시각화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428232" y="5980176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92824" y="587959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선정·위험 근거 텍스트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428232" y="6281928"/>
            <a:ext cx="91440" cy="9144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92824" y="6181344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구성 종목 상세 정보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4983480"/>
          </a:xfrm>
          <a:prstGeom prst="roundRect">
            <a:avLst>
              <a:gd name="adj" fmla="val 3670"/>
            </a:avLst>
          </a:prstGeom>
          <a:solidFill>
            <a:srgbClr val="0D1B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5486400" cy="502920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⚙  Backend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2860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112244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606040"/>
            <a:ext cx="502920" cy="50292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3591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B5"/>
                </a:solidFill>
              </a:rPr>
              <a:t>FastAPI + Uvicorn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6700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비동기 처리에 최적화된 경량 Python 백엔드.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자동 OpenAPI 문서 생성 포함.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112244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3977640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37307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</a:rPr>
              <a:t>SQLite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0416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로컬 환경에서 즉시 동작 가능한 경량 DB.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당일 데이터 캐싱 및 이력 관리.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50292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11224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349240"/>
            <a:ext cx="502920" cy="5029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8448" y="51023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OpenAI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54132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GPT 기반 뉴스 감성 분석과 핵심 이슈 자동 추출.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감성 점수 산출 및 위험 요인 태깅.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600200"/>
            <a:ext cx="5486400" cy="4983480"/>
          </a:xfrm>
          <a:prstGeom prst="roundRect">
            <a:avLst>
              <a:gd name="adj" fmla="val 3670"/>
            </a:avLst>
          </a:prstGeom>
          <a:solidFill>
            <a:srgbClr val="0D1B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600200"/>
            <a:ext cx="5486400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600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🖥  Frontend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46520" y="22860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1122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565392" y="2606040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50608" y="23591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</a:rPr>
              <a:t>Vite + TypeScript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50608" y="26700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빠른 개발 경험과 타입 안정성 확보.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HMR로 개발 피드백 루프 최소화.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36576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112244"/>
          </a:solidFill>
          <a:ln/>
        </p:spPr>
      </p:sp>
      <p:sp>
        <p:nvSpPr>
          <p:cNvPr id="34" name="Shape 32"/>
          <p:cNvSpPr/>
          <p:nvPr/>
        </p:nvSpPr>
        <p:spPr>
          <a:xfrm>
            <a:off x="6565392" y="3977640"/>
            <a:ext cx="502920" cy="50292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50608" y="37307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B5"/>
                </a:solidFill>
              </a:rPr>
              <a:t>KRX Open API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50608" y="40416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국내 ETF 전종목 일별 시세·거래 데이터 수집.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영업일 기준 스냅샷 자동 갱신.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50292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1122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565392" y="5349240"/>
            <a:ext cx="502920" cy="5029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50608" y="51023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NAVER 뉴스 API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50608" y="54132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ETF 관련 뉴스 수집 및 중복·관련성 검증.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OpenAI 감성 분석의 입력 데이터 역할.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1A3A6B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💡 KODEX 구성 종목 조회는 별도 API 키 없이 삼성자산운용 공식 자료 사용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구조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669280" cy="4937760"/>
          </a:xfrm>
          <a:prstGeom prst="roundRect">
            <a:avLst>
              <a:gd name="adj" fmla="val 3333"/>
            </a:avLst>
          </a:prstGeom>
          <a:solidFill>
            <a:srgbClr val="1122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B5"/>
                </a:solidFill>
              </a:rPr>
              <a:t>📁  디렉토리 구조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530352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67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backend/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267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FastAPI 라우트, 수집기, 분석·포트폴리오 서비스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660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app/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0540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tests/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447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requirements.txt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frontend/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840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Vite 기반 분석 화면과 API 호출 코드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233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src/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26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data/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4626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로컬 SQLite DB (버전 관리 제외)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0200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docs/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5020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요구사항, API 계약, 테스트 계획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413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.env.example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5413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환경 변수 설정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README.md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1600200"/>
            <a:ext cx="5303520" cy="4937760"/>
          </a:xfrm>
          <a:prstGeom prst="roundRect">
            <a:avLst>
              <a:gd name="adj" fmla="val 3333"/>
            </a:avLst>
          </a:prstGeom>
          <a:solidFill>
            <a:srgbClr val="112244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6916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</a:rPr>
              <a:t>⚙  구조 설계 원칙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2084832"/>
            <a:ext cx="493776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8" name="Shape 26"/>
          <p:cNvSpPr/>
          <p:nvPr/>
        </p:nvSpPr>
        <p:spPr>
          <a:xfrm>
            <a:off x="6629400" y="228600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1A3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0840" y="2468880"/>
            <a:ext cx="502920" cy="50292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23408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B5"/>
                </a:solidFill>
              </a:rPr>
              <a:t>독립 실행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6151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Backend와 Frontend를 별도 프로세스로 실행. API 계약으로만 통신.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329184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1A3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720840" y="3474720"/>
            <a:ext cx="502920" cy="5029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0" y="33467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데이터 격리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362102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data/ 디렉터리는 .gitignore 처리. 실제 DB는 버전 관리에서 제외.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29400" y="429768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1A3A6B"/>
          </a:solidFill>
          <a:ln/>
        </p:spPr>
      </p:sp>
      <p:sp>
        <p:nvSpPr>
          <p:cNvPr id="39" name="Shape 37"/>
          <p:cNvSpPr/>
          <p:nvPr/>
        </p:nvSpPr>
        <p:spPr>
          <a:xfrm>
            <a:off x="6720840" y="4480560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0" y="43525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문서화 우선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0" y="462686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docs/에 요구사항·API 계약·테스트 계획을 체계적으로 보관.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29400" y="530352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1A3A6B"/>
          </a:solidFill>
          <a:ln/>
        </p:spPr>
      </p:sp>
      <p:sp>
        <p:nvSpPr>
          <p:cNvPr id="44" name="Shape 42"/>
          <p:cNvSpPr/>
          <p:nvPr/>
        </p:nvSpPr>
        <p:spPr>
          <a:xfrm>
            <a:off x="6720840" y="5486400"/>
            <a:ext cx="502920" cy="502920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15200" y="535838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030"/>
                </a:solidFill>
              </a:rPr>
              <a:t>환경 변수 분리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0" y="5632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.env.example으로 필요한 설정값 목록을 공유, 실제 키는 커밋 금지.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전 준비 — 환경 변수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3E"/>
                </a:solidFill>
              </a:rPr>
              <a:t>.env.example을 복사해 .env를 만든 뒤 필요한 API 키와 설정값을 입력합니다. 실제 키는 저장소에 커밋하지 않습니다.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349240" cy="1051560"/>
          </a:xfrm>
          <a:prstGeom prst="roundRect">
            <a:avLst>
              <a:gd name="adj" fmla="val 12174"/>
            </a:avLst>
          </a:prstGeom>
          <a:solidFill>
            <a:srgbClr val="0D1B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5349240" cy="347472"/>
          </a:xfrm>
          <a:prstGeom prst="roundRect">
            <a:avLst>
              <a:gd name="adj" fmla="val 36842"/>
            </a:avLst>
          </a:prstGeom>
          <a:solidFill>
            <a:srgbClr val="0A84B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67128"/>
            <a:ext cx="5349240" cy="146304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6596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KRX ETF 시세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KRX_API_KEY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ETF_DATABASE_PATH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349240" cy="1051560"/>
          </a:xfrm>
          <a:prstGeom prst="roundRect">
            <a:avLst>
              <a:gd name="adj" fmla="val 12174"/>
            </a:avLst>
          </a:prstGeom>
          <a:solidFill>
            <a:srgbClr val="0D1B3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200400"/>
            <a:ext cx="5349240" cy="347472"/>
          </a:xfrm>
          <a:prstGeom prst="roundRect">
            <a:avLst>
              <a:gd name="adj" fmla="val 36842"/>
            </a:avLst>
          </a:prstGeom>
          <a:solidFill>
            <a:srgbClr val="00C2A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01568"/>
            <a:ext cx="5349240" cy="14630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0040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정량 계산 가정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84448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KOFR_ANNUAL_RATE_PERCENT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WEEKLY_SAMPLE_WEEKDAY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5532120" cy="1051560"/>
          </a:xfrm>
          <a:prstGeom prst="roundRect">
            <a:avLst>
              <a:gd name="adj" fmla="val 12174"/>
            </a:avLst>
          </a:prstGeom>
          <a:solidFill>
            <a:srgbClr val="0D1B3E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1965960"/>
            <a:ext cx="5532120" cy="347472"/>
          </a:xfrm>
          <a:prstGeom prst="roundRect">
            <a:avLst>
              <a:gd name="adj" fmla="val 36842"/>
            </a:avLst>
          </a:prstGeom>
          <a:solidFill>
            <a:srgbClr val="F5C84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167128"/>
            <a:ext cx="5532120" cy="14630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96596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NAVER 뉴스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350008"/>
            <a:ext cx="5166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NAVER_API_KEY_ID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NAVER_API_KEY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NEWS_RELEVANCE_THRESHOLD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200400"/>
            <a:ext cx="5532120" cy="1051560"/>
          </a:xfrm>
          <a:prstGeom prst="roundRect">
            <a:avLst>
              <a:gd name="adj" fmla="val 12174"/>
            </a:avLst>
          </a:prstGeom>
          <a:solidFill>
            <a:srgbClr val="0D1B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3200400"/>
            <a:ext cx="5532120" cy="347472"/>
          </a:xfrm>
          <a:prstGeom prst="roundRect">
            <a:avLst>
              <a:gd name="adj" fmla="val 36842"/>
            </a:avLst>
          </a:prstGeom>
          <a:solidFill>
            <a:srgbClr val="E060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3401568"/>
            <a:ext cx="5532120" cy="146304"/>
          </a:xfrm>
          <a:prstGeom prst="rect">
            <a:avLst/>
          </a:prstGeom>
          <a:solidFill>
            <a:srgbClr val="E0603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004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OpenAI 감성 분석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584448"/>
            <a:ext cx="5166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OPENAI_SENTIMENT_MODEL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SENTIMENT_MINIMUM_ARTICLES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11247120" cy="868680"/>
          </a:xfrm>
          <a:prstGeom prst="roundRect">
            <a:avLst>
              <a:gd name="adj" fmla="val 14737"/>
            </a:avLst>
          </a:prstGeom>
          <a:solidFill>
            <a:srgbClr val="0D1B3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526280"/>
            <a:ext cx="11247120" cy="347472"/>
          </a:xfrm>
          <a:prstGeom prst="roundRect">
            <a:avLst>
              <a:gd name="adj" fmla="val 36842"/>
            </a:avLst>
          </a:prstGeom>
          <a:solidFill>
            <a:srgbClr val="0A84B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727448"/>
            <a:ext cx="11247120" cy="146304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526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Frontend 연결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910328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VITE_API_BASE_URL (미설정 시 http://127.0.0.1:8000)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KRX 키가 없으면 ETF 데이터 수집 실패  |  NAVER 또는 OpenAI 미설정 시 해당 단계는 오류 또는 제한 상태로 응답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방법과 API 엔드포인트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424160" y="4572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A84B5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57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349240" cy="3063240"/>
          </a:xfrm>
          <a:prstGeom prst="roundRect">
            <a:avLst>
              <a:gd name="adj" fmla="val 5373"/>
            </a:avLst>
          </a:prstGeom>
          <a:solidFill>
            <a:srgbClr val="11224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5349240" cy="457200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  백엔드 실행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060F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uvicorn app.main:app --reload --port 8000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532120" cy="3063240"/>
          </a:xfrm>
          <a:prstGeom prst="roundRect">
            <a:avLst>
              <a:gd name="adj" fmla="val 5373"/>
            </a:avLst>
          </a:prstGeom>
          <a:solidFill>
            <a:srgbClr val="112244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600200"/>
            <a:ext cx="5532120" cy="4572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00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🖥  프론트엔드 실행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060F2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402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5349240" cy="1737360"/>
          </a:xfrm>
          <a:prstGeom prst="roundRect">
            <a:avLst>
              <a:gd name="adj" fmla="val 8421"/>
            </a:avLst>
          </a:prstGeom>
          <a:solidFill>
            <a:srgbClr val="11224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864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🔗  주요 URL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230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B0C8"/>
                </a:solidFill>
              </a:rPr>
              <a:t>웹 화면: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5230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5614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B0C8"/>
                </a:solidFill>
              </a:rPr>
              <a:t>상태 확인: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5614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http://127.0.0.1:8000/health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9984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B0C8"/>
                </a:solidFill>
              </a:rPr>
              <a:t>API 문서: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5998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http://127.0.0.1:8000/docs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800600"/>
            <a:ext cx="5532120" cy="1737360"/>
          </a:xfrm>
          <a:prstGeom prst="roundRect">
            <a:avLst>
              <a:gd name="adj" fmla="val 8421"/>
            </a:avLst>
          </a:prstGeom>
          <a:solidFill>
            <a:srgbClr val="11224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864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📡  주요 API 엔드포인트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5230368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0A84B5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5230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98280" y="5230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8"/>
                </a:solidFill>
              </a:rPr>
              <a:t>서비스 상태 확인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5614416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0A84B5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6144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5614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98280" y="56144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8"/>
                </a:solidFill>
              </a:rPr>
              <a:t>자동 생성 API 문서 (Swagger UI)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5998464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0A84B5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59984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5998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/api/etf/candidates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98280" y="5998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8"/>
                </a:solidFill>
              </a:rPr>
              <a:t>후보 ETF 목록 반환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기준과 한계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B0C8"/>
                </a:solidFill>
              </a:rPr>
              <a:t>발표 말미에 반드시 남겨야 하는 면책·해석 기준입니다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11224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194560"/>
            <a:ext cx="594360" cy="594360"/>
          </a:xfrm>
          <a:prstGeom prst="ellipse">
            <a:avLst/>
          </a:prstGeom>
          <a:solidFill>
            <a:srgbClr val="0A84B5"/>
          </a:solidFill>
          <a:ln w="12700">
            <a:solidFill>
              <a:srgbClr val="0A8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B5"/>
                </a:solidFill>
              </a:rPr>
              <a:t>가격·거래 데이터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075688"/>
            <a:ext cx="4389120" cy="36576"/>
          </a:xfrm>
          <a:prstGeom prst="rect">
            <a:avLst/>
          </a:prstGeom>
          <a:solidFill>
            <a:srgbClr val="0A84B5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221992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KRX ETF 일별 데이터 기준. 응답의 as_of_date와 data_origin으로 기준일과 출처를 확인할 수 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1122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2194560"/>
            <a:ext cx="594360" cy="59436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86600" y="1645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정량 지표 한계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86600" y="2075688"/>
            <a:ext cx="438912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221992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종가 기준이며 조정 종가가 아닙니다. 저장 이력이 짧거나 주간 관측치가 부족하면 일부 지표는 산출되지 않을 수 있습니다.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1122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480560"/>
            <a:ext cx="594360" cy="5943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3931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</a:rPr>
              <a:t>뉴스 감성 정보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4361688"/>
            <a:ext cx="4389120" cy="3657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507992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수집 시점과 검증된 기사에 의존하는 보조 정보입니다. 사실 확인이나 수익 예측을 대체하지 않습니다.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79476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1122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4480560"/>
            <a:ext cx="594360" cy="5943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86600" y="3931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최종 책임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86600" y="4361688"/>
            <a:ext cx="43891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4507992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</a:rPr>
              <a:t>최종 투자 판단과 책임은 사용자에게 있습니다. 이 서비스는 의사결정 보조 도구이며 금융 조언이 아닙니다.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투자 권유가 아니며 성과를 보장하지 않습니다. 최종 판단과 책임은 사용자에게 있습니다.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2026-08-11T11:03:11Z</dcterms:created>
  <dcterms:modified xsi:type="dcterms:W3CDTF">2026-08-11T11:03:11Z</dcterms:modified>
</cp:coreProperties>
</file>