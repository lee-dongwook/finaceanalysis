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image" Target="../media/image3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4.png"  /><Relationship Id="rId2" Type="http://schemas.openxmlformats.org/officeDocument/2006/relationships/image" Target="../media/image5.png"  /><Relationship Id="rId3" Type="http://schemas.openxmlformats.org/officeDocument/2006/relationships/image" Target="../media/image5.png"  /><Relationship Id="rId4" Type="http://schemas.openxmlformats.org/officeDocument/2006/relationships/image" Target="../media/image5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Relationship Id="rId7" Type="http://schemas.openxmlformats.org/officeDocument/2006/relationships/slideLayout" Target="../slideLayouts/slideLayout1.xml"  /><Relationship Id="rId8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7.png"  /><Relationship Id="rId2" Type="http://schemas.openxmlformats.org/officeDocument/2006/relationships/image" Target="../media/image8.png"  /><Relationship Id="rId3" Type="http://schemas.openxmlformats.org/officeDocument/2006/relationships/image" Target="../media/image8.png"  /><Relationship Id="rId4" Type="http://schemas.openxmlformats.org/officeDocument/2006/relationships/image" Target="../media/image8.png"  /><Relationship Id="rId5" Type="http://schemas.openxmlformats.org/officeDocument/2006/relationships/slideLayout" Target="../slideLayouts/slideLayout1.xml"  /><Relationship Id="rId6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9.png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slideLayout" Target="../slideLayouts/slideLayout1.xml"  /><Relationship Id="rId6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13.png"  /><Relationship Id="rId2" Type="http://schemas.openxmlformats.org/officeDocument/2006/relationships/image" Target="../media/image14.png"  /><Relationship Id="rId3" Type="http://schemas.openxmlformats.org/officeDocument/2006/relationships/image" Target="../media/image14.png"  /><Relationship Id="rId4" Type="http://schemas.openxmlformats.org/officeDocument/2006/relationships/image" Target="../media/image14.png"  /><Relationship Id="rId5" Type="http://schemas.openxmlformats.org/officeDocument/2006/relationships/image" Target="../media/image14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15.png"  /><Relationship Id="rId2" Type="http://schemas.openxmlformats.org/officeDocument/2006/relationships/image" Target="../media/image16.png"  /><Relationship Id="rId3" Type="http://schemas.openxmlformats.org/officeDocument/2006/relationships/image" Target="../media/image15.png"  /><Relationship Id="rId4" Type="http://schemas.openxmlformats.org/officeDocument/2006/relationships/image" Target="../media/image15.png"  /><Relationship Id="rId5" Type="http://schemas.openxmlformats.org/officeDocument/2006/relationships/image" Target="../media/image15.png"  /><Relationship Id="rId6" Type="http://schemas.openxmlformats.org/officeDocument/2006/relationships/image" Target="../media/image15.png"  /><Relationship Id="rId7" Type="http://schemas.openxmlformats.org/officeDocument/2006/relationships/slideLayout" Target="../slideLayouts/slideLayout1.xml"  /><Relationship Id="rId8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8.png"  /><Relationship Id="rId6" Type="http://schemas.openxmlformats.org/officeDocument/2006/relationships/image" Target="../media/image18.png"  /><Relationship Id="rId7" Type="http://schemas.openxmlformats.org/officeDocument/2006/relationships/image" Target="../media/image1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19.png"  /><Relationship Id="rId2" Type="http://schemas.openxmlformats.org/officeDocument/2006/relationships/image" Target="../media/image20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21.png"  /><Relationship Id="rId2" Type="http://schemas.openxmlformats.org/officeDocument/2006/relationships/image" Target="../media/image21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image" Target="../media/image22.png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Relationship Id="rId5" Type="http://schemas.openxmlformats.org/officeDocument/2006/relationships/image" Target="../media/image24.png"  /><Relationship Id="rId6" Type="http://schemas.openxmlformats.org/officeDocument/2006/relationships/image" Target="../media/image24.png"  /><Relationship Id="rId7" Type="http://schemas.openxmlformats.org/officeDocument/2006/relationships/image" Target="../media/image24.png"  /><Relationship Id="rId8" Type="http://schemas.openxmlformats.org/officeDocument/2006/relationships/slideLayout" Target="../slideLayouts/slideLayout1.xml"  /><Relationship Id="rId9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image" Target="../media/image25.png"  /><Relationship Id="rId2" Type="http://schemas.openxmlformats.org/officeDocument/2006/relationships/image" Target="../media/image25.png"  /><Relationship Id="rId3" Type="http://schemas.openxmlformats.org/officeDocument/2006/relationships/image" Target="../media/image25.png"  /><Relationship Id="rId4" Type="http://schemas.openxmlformats.org/officeDocument/2006/relationships/image" Target="../media/image25.png"  /><Relationship Id="rId5" Type="http://schemas.openxmlformats.org/officeDocument/2006/relationships/image" Target="../media/image25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image" Target="../media/image26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image" Target="../media/image27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image" Target="../media/image28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image" Target="../media/image29.png"  /><Relationship Id="rId2" Type="http://schemas.openxmlformats.org/officeDocument/2006/relationships/image" Target="../media/image29.png"  /><Relationship Id="rId3" Type="http://schemas.openxmlformats.org/officeDocument/2006/relationships/image" Target="../media/image29.png"  /><Relationship Id="rId4" Type="http://schemas.openxmlformats.org/officeDocument/2006/relationships/image" Target="../media/image29.png"  /><Relationship Id="rId5" Type="http://schemas.openxmlformats.org/officeDocument/2006/relationships/image" Target="../media/image29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1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4190695"/>
            <a:ext cx="3429000" cy="4953305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3000" y="914400"/>
            <a:ext cx="36301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650" dirty="0"/>
          </a:p>
        </p:txBody>
      </p:sp>
      <p:sp>
        <p:nvSpPr>
          <p:cNvPr id="4" name="Text 2"/>
          <p:cNvSpPr txBox="1"/>
          <p:nvPr/>
        </p:nvSpPr>
        <p:spPr>
          <a:xfrm>
            <a:off x="14859000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FFFFFF">
                    <a:alpha val="56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· 2026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90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36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ETF ANALYSIS · WEB APPLICATION</a:t>
            </a:r>
            <a:endParaRPr lang="en-US" sz="1200" dirty="0"/>
          </a:p>
        </p:txBody>
      </p:sp>
      <p:pic>
        <p:nvPicPr>
          <p:cNvPr id="6" name="Image 0" descr="gen-dedup-3ab0d500bc4920305d2d73ccd9b341f9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4562856"/>
            <a:ext cx="609905" cy="192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5048402"/>
            <a:ext cx="1333561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0" b="1" spc="-607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</a:t>
            </a:r>
            <a:pPr algn="l" indent="0" marL="0">
              <a:lnSpc>
                <a:spcPct val="100000"/>
              </a:lnSpc>
              <a:buNone/>
            </a:pPr>
            <a:endParaRPr lang="en-US" sz="13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0" b="1" spc="-607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</a:t>
            </a:r>
            <a:pPr algn="l" indent="0" marL="0">
              <a:lnSpc>
                <a:spcPct val="100000"/>
              </a:lnSpc>
              <a:buNone/>
            </a:pPr>
            <a:r>
              <a:rPr lang="en-US" sz="13500" b="1" spc="-607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8858707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상장 ETF의 KRX 시세 · 정량 지표 · 뉴스 감성을 한 화면에서 비교하는 웹 애플리케이션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097305" y="45720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FLOW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4097305" y="5009998"/>
            <a:ext cx="457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14706295" y="5009998"/>
            <a:ext cx="12765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</a:t>
            </a:r>
            <a:endParaRPr lang="en-US" sz="1425" dirty="0"/>
          </a:p>
        </p:txBody>
      </p:sp>
      <p:sp>
        <p:nvSpPr>
          <p:cNvPr id="12" name="Text 9"/>
          <p:cNvSpPr txBox="1"/>
          <p:nvPr/>
        </p:nvSpPr>
        <p:spPr>
          <a:xfrm>
            <a:off x="14706295" y="5286146"/>
            <a:ext cx="181508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56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 · 기간 · 위험 성향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4097305" y="5778094"/>
            <a:ext cx="457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4706295" y="5778094"/>
            <a:ext cx="11622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선별</a:t>
            </a:r>
            <a:endParaRPr lang="en-US" sz="1425" dirty="0"/>
          </a:p>
        </p:txBody>
      </p:sp>
      <p:sp>
        <p:nvSpPr>
          <p:cNvPr id="15" name="Text 12"/>
          <p:cNvSpPr txBox="1"/>
          <p:nvPr/>
        </p:nvSpPr>
        <p:spPr>
          <a:xfrm>
            <a:off x="14706295" y="6054242"/>
            <a:ext cx="153527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56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KRX ETF 기준 필터링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4097305" y="6545275"/>
            <a:ext cx="457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4706295" y="6545275"/>
            <a:ext cx="13624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</a:t>
            </a:r>
            <a:endParaRPr lang="en-US" sz="1425" dirty="0"/>
          </a:p>
        </p:txBody>
      </p:sp>
      <p:sp>
        <p:nvSpPr>
          <p:cNvPr id="18" name="Text 15"/>
          <p:cNvSpPr txBox="1"/>
          <p:nvPr/>
        </p:nvSpPr>
        <p:spPr>
          <a:xfrm>
            <a:off x="14706295" y="6821424"/>
            <a:ext cx="186994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56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지표 · 뉴스 근거 비교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9525305"/>
            <a:ext cx="9525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FFFFFF">
                    <a:alpha val="4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범위 · ETF 분석 · 정량 + 뉴스 근거 | 투자 권유가 아니며 성과를 보장하지 않습니다.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6383305" y="9525305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FFFFFF">
                    <a:alpha val="56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247a15be6ab9e478e80b78a7858368ee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9144000" y="4476902"/>
            <a:ext cx="9144" cy="36191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8953805"/>
            <a:ext cx="16002000" cy="7616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16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1714500"/>
            <a:ext cx="15581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 · 02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문제의식과 목표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초안의 일반적인 표현을 줄이고, 실제 구현 범위 중심으로 정리했습니다.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476902"/>
            <a:ext cx="7429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781398"/>
            <a:ext cx="7429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정보,</a:t>
            </a:r>
            <a:pPr algn="l" indent="0" marL="0">
              <a:lnSpc>
                <a:spcPct val="125000"/>
              </a:lnSpc>
              <a:buNone/>
            </a:pP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느려지는 판단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5798210"/>
            <a:ext cx="74295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8"/>
              </a:lnSpc>
              <a:buNone/>
            </a:pPr>
            <a:r>
              <a:rPr lang="en-US" sz="157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ETF를 검토할 때 가격 데이터, 정량 지표, 뉴스 흐름을 각각 다른 화면에서 확인해야 합니다.</a:t>
            </a:r>
            <a:pPr algn="l" indent="0" marL="0">
              <a:lnSpc>
                <a:spcPts val="2678"/>
              </a:lnSpc>
              <a:buNone/>
            </a:pPr>
            <a:endParaRPr lang="en-US" sz="1575" dirty="0"/>
          </a:p>
          <a:p>
            <a:pPr algn="l" indent="0" marL="0">
              <a:lnSpc>
                <a:spcPts val="2678"/>
              </a:lnSpc>
              <a:buNone/>
            </a:pPr>
            <a:endParaRPr lang="en-US" sz="1575" dirty="0"/>
          </a:p>
          <a:p>
            <a:pPr algn="l" indent="0" marL="0">
              <a:lnSpc>
                <a:spcPts val="2678"/>
              </a:lnSpc>
              <a:buNone/>
            </a:pPr>
            <a:r>
              <a:rPr lang="en-US" sz="157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과정은 비교 기준이 흩어지고, 후보를 좁히는 데 시간이 오래 걸립니다.</a:t>
            </a:r>
            <a:endParaRPr lang="en-US" sz="1575" dirty="0"/>
          </a:p>
        </p:txBody>
      </p:sp>
      <p:sp>
        <p:nvSpPr>
          <p:cNvPr id="13" name="Text 9"/>
          <p:cNvSpPr txBox="1"/>
          <p:nvPr/>
        </p:nvSpPr>
        <p:spPr>
          <a:xfrm>
            <a:off x="9715500" y="4476902"/>
            <a:ext cx="7429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GOALS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9715500" y="4781398"/>
            <a:ext cx="7429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목표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9715500" y="5467198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715500" y="6144768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715500" y="5734202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0211105" y="5667451"/>
            <a:ext cx="69348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조건 입력부터 후보 비교까지 한 화면에서 처리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715500" y="6820510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715500" y="6409944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0211105" y="6344107"/>
            <a:ext cx="69348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지표와 뉴스 근거를 함께 보여 의사결정 보조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715500" y="7086600"/>
            <a:ext cx="305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0211105" y="7019849"/>
            <a:ext cx="69348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기준으로 실행 가능한 범위와 한계를 명확히 표시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524305" y="9210751"/>
            <a:ext cx="859078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방향</a:t>
            </a:r>
            <a:pPr algn="l" indent="0" marL="0">
              <a:buNone/>
            </a:pPr>
            <a:r>
              <a:rPr lang="en-US" sz="1650" spc="-8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추천을 "확정"하지 않고, 사용자가 확인할 수 있는 근거를 구조화합니다.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8572500"/>
            <a:ext cx="16002000" cy="1143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8572500"/>
            <a:ext cx="38405" cy="11430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097305" y="4572000"/>
            <a:ext cx="3047695" cy="323880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714500"/>
            <a:ext cx="15581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· 03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한눈에 보기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입력값, 데이터 수집, 분석, 화면 표시가 어떻게 이어지는지 요약합니다.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4762195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01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5067605"/>
            <a:ext cx="266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2400" dirty="0"/>
          </a:p>
        </p:txBody>
      </p:sp>
      <p:pic>
        <p:nvPicPr>
          <p:cNvPr id="13" name="Image 1" descr="gen-dedup-4d8fac143d6571bf0772931440340f8b.png">    </p:cNvPr>
          <p:cNvPicPr>
            <a:picLocks noChangeAspect="1"/>
          </p:cNvPicPr>
          <p:nvPr/>
        </p:nvPicPr>
        <p:blipFill>
          <a:blip r:embed="rId2"/>
          <a:srcRect l="0" r="0" t="-450" b="-450"/>
          <a:stretch/>
        </p:blipFill>
        <p:spPr>
          <a:xfrm>
            <a:off x="1143000" y="5619902"/>
            <a:ext cx="304495" cy="192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5786323"/>
            <a:ext cx="2667305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성향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905402" y="533369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381805" y="4762195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381805" y="5067605"/>
            <a:ext cx="266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</a:t>
            </a:r>
            <a:endParaRPr lang="en-US" sz="2400" dirty="0"/>
          </a:p>
        </p:txBody>
      </p:sp>
      <p:pic>
        <p:nvPicPr>
          <p:cNvPr id="18" name="Image 2" descr="gen-dedup-4d8fac143d6571bf0772931440340f8b.png">    </p:cNvPr>
          <p:cNvPicPr>
            <a:picLocks noChangeAspect="1"/>
          </p:cNvPicPr>
          <p:nvPr/>
        </p:nvPicPr>
        <p:blipFill>
          <a:blip r:embed="rId3"/>
          <a:srcRect l="0" r="0" t="-450" b="-450"/>
          <a:stretch/>
        </p:blipFill>
        <p:spPr>
          <a:xfrm>
            <a:off x="4381805" y="5619902"/>
            <a:ext cx="304495" cy="192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81805" y="5786323"/>
            <a:ext cx="2667305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KRX 시세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NAVER 뉴스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종목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7144207" y="533369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7619695" y="4762195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03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619695" y="5067605"/>
            <a:ext cx="266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계산</a:t>
            </a:r>
            <a:endParaRPr lang="en-US" sz="2400" dirty="0"/>
          </a:p>
        </p:txBody>
      </p:sp>
      <p:pic>
        <p:nvPicPr>
          <p:cNvPr id="23" name="Image 3" descr="gen-dedup-4d8fac143d6571bf0772931440340f8b.png">    </p:cNvPr>
          <p:cNvPicPr>
            <a:picLocks noChangeAspect="1"/>
          </p:cNvPicPr>
          <p:nvPr/>
        </p:nvPicPr>
        <p:blipFill>
          <a:blip r:embed="rId4"/>
          <a:srcRect l="0" r="0" t="-450" b="-450"/>
          <a:stretch/>
        </p:blipFill>
        <p:spPr>
          <a:xfrm>
            <a:off x="7619695" y="5619902"/>
            <a:ext cx="304495" cy="192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19695" y="5786323"/>
            <a:ext cx="2667305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변동성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MDD · 샤프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0382098" y="533369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10858500" y="4762195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04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0858500" y="5067605"/>
            <a:ext cx="266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확인</a:t>
            </a:r>
            <a:endParaRPr lang="en-US" sz="2400" dirty="0"/>
          </a:p>
        </p:txBody>
      </p:sp>
      <p:pic>
        <p:nvPicPr>
          <p:cNvPr id="28" name="Image 4" descr="gen-dedup-4d8fac143d6571bf0772931440340f8b.png">    </p:cNvPr>
          <p:cNvPicPr>
            <a:picLocks noChangeAspect="1"/>
          </p:cNvPicPr>
          <p:nvPr/>
        </p:nvPicPr>
        <p:blipFill>
          <a:blip r:embed="rId5"/>
          <a:srcRect l="0" r="0" t="-450" b="-450"/>
          <a:stretch/>
        </p:blipFill>
        <p:spPr>
          <a:xfrm>
            <a:off x="10858500" y="5619902"/>
            <a:ext cx="304495" cy="192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858500" y="5786323"/>
            <a:ext cx="2667305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뉴스 수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 점수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요인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3620902" y="533369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14287500" y="4762195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05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14287500" y="5067605"/>
            <a:ext cx="266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화면</a:t>
            </a:r>
            <a:endParaRPr lang="en-US" sz="2400" dirty="0"/>
          </a:p>
        </p:txBody>
      </p:sp>
      <p:pic>
        <p:nvPicPr>
          <p:cNvPr id="33" name="Image 5" descr="gen-dedup-7d9afe0044254d8bd4dd9eee907d3140.png">    </p:cNvPr>
          <p:cNvPicPr>
            <a:picLocks noChangeAspect="1"/>
          </p:cNvPicPr>
          <p:nvPr/>
        </p:nvPicPr>
        <p:blipFill>
          <a:blip r:embed="rId6"/>
          <a:srcRect l="0" r="0" t="-450" b="-450"/>
          <a:stretch/>
        </p:blipFill>
        <p:spPr>
          <a:xfrm>
            <a:off x="14287500" y="5619902"/>
            <a:ext cx="304495" cy="192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287500" y="5786323"/>
            <a:ext cx="2667305" cy="919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순위표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차트</a:t>
            </a:r>
            <a:pPr algn="l" indent="0" marL="0">
              <a:lnSpc>
                <a:spcPts val="2295"/>
              </a:lnSpc>
              <a:buNone/>
            </a:pPr>
            <a:endParaRPr lang="en-US" sz="1350" dirty="0"/>
          </a:p>
          <a:p>
            <a:pPr algn="l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문장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1524305" y="8762695"/>
            <a:ext cx="1543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PRINCIPLE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1524305" y="9029700"/>
            <a:ext cx="15430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사용자에게 보여줄 최종 산출물은 ETF별 점수와 순위가 아니라, </a:t>
            </a:r>
            <a:pPr algn="l" indent="0" marL="0">
              <a:buNone/>
            </a:pPr>
            <a:r>
              <a:rPr lang="en-US" sz="1650" b="1" spc="-16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"왜 후보가 되었는지"</a:t>
            </a:r>
            <a:pPr algn="l" indent="0" marL="0">
              <a:buNone/>
            </a:pPr>
            <a:r>
              <a:rPr lang="en-US" sz="1650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설명하는 근거입니다.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7905902"/>
            <a:ext cx="16002000" cy="1809598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16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714500"/>
            <a:ext cx="16888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FEATURES · 04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기능과 차별점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과장하지 않고 MVP에서 확인 가능한 가치 위주로 정리했습니다.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572000"/>
            <a:ext cx="49533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240" kern="0" dirty="0">
                <a:solidFill>
                  <a:srgbClr val="F7F8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5486400"/>
            <a:ext cx="495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원스톱 통합 분석</a:t>
            </a:r>
            <a:endParaRPr lang="en-US" sz="2400" dirty="0"/>
          </a:p>
        </p:txBody>
      </p:sp>
      <p:pic>
        <p:nvPicPr>
          <p:cNvPr id="11" name="Image 1" descr="gen-dedup-a353fb44a699e381117dba1856316c24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5962802"/>
            <a:ext cx="457200" cy="192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6172200"/>
            <a:ext cx="4953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· KRX 시세 · 정량 지표 · 뉴스 정보를 한 화면에서 이어서 확인합니다.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667805" y="4572000"/>
            <a:ext cx="49533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240" kern="0" dirty="0">
                <a:solidFill>
                  <a:srgbClr val="F7F8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14" name="Text 10"/>
          <p:cNvSpPr txBox="1"/>
          <p:nvPr/>
        </p:nvSpPr>
        <p:spPr>
          <a:xfrm>
            <a:off x="6667805" y="5486400"/>
            <a:ext cx="495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감성 분석</a:t>
            </a:r>
            <a:endParaRPr lang="en-US" sz="2400" dirty="0"/>
          </a:p>
        </p:txBody>
      </p:sp>
      <p:pic>
        <p:nvPicPr>
          <p:cNvPr id="15" name="Image 2" descr="gen-dedup-a353fb44a699e381117dba1856316c24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6667805" y="5962802"/>
            <a:ext cx="457200" cy="192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67805" y="6172200"/>
            <a:ext cx="4953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API를 사용해 뉴스 감성 · 핵심 이슈 · 위험 요인을 보조 정보로 정리합니다.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191695" y="4572000"/>
            <a:ext cx="4953305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240" kern="0" dirty="0">
                <a:solidFill>
                  <a:srgbClr val="F7F8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18" name="Text 13"/>
          <p:cNvSpPr txBox="1"/>
          <p:nvPr/>
        </p:nvSpPr>
        <p:spPr>
          <a:xfrm>
            <a:off x="12191695" y="5486400"/>
            <a:ext cx="4953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맞춤형 기준</a:t>
            </a:r>
            <a:endParaRPr lang="en-US" sz="2400" dirty="0"/>
          </a:p>
        </p:txBody>
      </p:sp>
      <p:pic>
        <p:nvPicPr>
          <p:cNvPr id="19" name="Image 3" descr="gen-dedup-a353fb44a699e381117dba1856316c24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2191695" y="5962802"/>
            <a:ext cx="457200" cy="192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191695" y="6172200"/>
            <a:ext cx="4953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 · 기간 · 위험 성향 · 선호 자산 유형을 반영해 후보를 좁힙니다.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524305" y="8238744"/>
            <a:ext cx="1543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1524305" y="8581644"/>
            <a:ext cx="15430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"모든 판단을 자동화"하는 것이 아니라,</a:t>
            </a:r>
            <a:pPr algn="l" indent="0" marL="0">
              <a:lnSpc>
                <a:spcPct val="130000"/>
              </a:lnSpc>
              <a:buNone/>
            </a:pPr>
            <a:endParaRPr lang="en-US" sz="2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700" b="1" spc="-5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근거를 한 번에 비교하게 만드는 데</a:t>
            </a:r>
            <a:pPr algn="l" indent="0" marL="0">
              <a:lnSpc>
                <a:spcPct val="130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있습니다.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d1c2f99d4e417640b36b35e9714b05a1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9144000" y="4858207"/>
            <a:ext cx="9144" cy="38103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9144000"/>
            <a:ext cx="16002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" y="9144000"/>
            <a:ext cx="38405" cy="5715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16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714500"/>
            <a:ext cx="235640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COLLABORATION · 05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구분 및 협업 범위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팀은 설계·검토·문서 정리를 담당하고, 기술 구현은 3조와 협력해 완성합니다.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343400"/>
            <a:ext cx="10863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OUR TEAM</a:t>
            </a:r>
            <a:endParaRPr lang="en-US" sz="1200" dirty="0"/>
          </a:p>
        </p:txBody>
      </p:sp>
      <p:pic>
        <p:nvPicPr>
          <p:cNvPr id="12" name="Image 2" descr="gen-dedup-8e87ae63f84b6dc652e7722e090000d5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2372868" y="4476902"/>
            <a:ext cx="6580022" cy="91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334195" y="4343400"/>
            <a:ext cx="7909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3</a:t>
            </a:r>
            <a:endParaRPr lang="en-US" sz="1200" dirty="0"/>
          </a:p>
        </p:txBody>
      </p:sp>
      <p:pic>
        <p:nvPicPr>
          <p:cNvPr id="14" name="Image 3" descr="gen-dedup-2170d7e699f869d6d43f74d382995712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0270541" y="4476902"/>
            <a:ext cx="6874459" cy="91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4858207"/>
            <a:ext cx="55778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300" dirty="0"/>
          </a:p>
        </p:txBody>
      </p:sp>
      <p:sp>
        <p:nvSpPr>
          <p:cNvPr id="16" name="Text 10"/>
          <p:cNvSpPr txBox="1"/>
          <p:nvPr/>
        </p:nvSpPr>
        <p:spPr>
          <a:xfrm>
            <a:off x="1806854" y="4953305"/>
            <a:ext cx="201899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중심 작업</a:t>
            </a:r>
            <a:endParaRPr lang="en-US" sz="21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5396789"/>
            <a:ext cx="7810805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정의 · 기능 분해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설계와 범위 정리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6953098"/>
            <a:ext cx="5340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300" dirty="0"/>
          </a:p>
        </p:txBody>
      </p:sp>
      <p:sp>
        <p:nvSpPr>
          <p:cNvPr id="19" name="Text 13"/>
          <p:cNvSpPr txBox="1"/>
          <p:nvPr/>
        </p:nvSpPr>
        <p:spPr>
          <a:xfrm>
            <a:off x="1866290" y="7048195"/>
            <a:ext cx="129113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검토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7491679"/>
            <a:ext cx="7810805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분석 기준 · 뉴스 처리 범위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· 한계 기준 점검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9715500" y="4858207"/>
            <a:ext cx="5532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300" dirty="0"/>
          </a:p>
        </p:txBody>
      </p:sp>
      <p:sp>
        <p:nvSpPr>
          <p:cNvPr id="22" name="Text 16"/>
          <p:cNvSpPr txBox="1"/>
          <p:nvPr/>
        </p:nvSpPr>
        <p:spPr>
          <a:xfrm>
            <a:off x="10450678" y="4953305"/>
            <a:ext cx="191475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3조 추가 작업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9715500" y="5396789"/>
            <a:ext cx="74295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 · API 계약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연동 상세 설계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715500" y="6953098"/>
            <a:ext cx="5532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300" dirty="0"/>
          </a:p>
        </p:txBody>
      </p:sp>
      <p:sp>
        <p:nvSpPr>
          <p:cNvPr id="25" name="Text 19"/>
          <p:cNvSpPr txBox="1"/>
          <p:nvPr/>
        </p:nvSpPr>
        <p:spPr>
          <a:xfrm>
            <a:off x="10457993" y="7048195"/>
            <a:ext cx="235458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· 문서 정리</a:t>
            </a:r>
            <a:endParaRPr lang="en-US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9715500" y="7491679"/>
            <a:ext cx="74295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산출물 취합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· 테스트 증빙 준비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524305" y="9320479"/>
            <a:ext cx="94210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원칙</a:t>
            </a:r>
            <a:pPr algn="l" indent="0" marL="0"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각 조는 API 계약과 데이터 스키마를 통해 독립적으로 개발하고, 공동 검토 시점에 통합합니다.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9144000"/>
            <a:ext cx="16002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9144000"/>
            <a:ext cx="38405" cy="5715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714500"/>
            <a:ext cx="155722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· 06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858207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5086807"/>
            <a:ext cx="3620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0" b="1" spc="-600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572707"/>
            <a:ext cx="3620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설계</a:t>
            </a:r>
            <a:endParaRPr lang="en-US" sz="2100" dirty="0"/>
          </a:p>
        </p:txBody>
      </p:sp>
      <p:pic>
        <p:nvPicPr>
          <p:cNvPr id="12" name="Image 1" descr="gen-dedup-c5a3d0574c6276804148619de63a88ea.png">    </p:cNvPr>
          <p:cNvPicPr>
            <a:picLocks noChangeAspect="1"/>
          </p:cNvPicPr>
          <p:nvPr/>
        </p:nvPicPr>
        <p:blipFill>
          <a:blip r:embed="rId2"/>
          <a:srcRect l="0" r="0" t="-360" b="-360"/>
          <a:stretch/>
        </p:blipFill>
        <p:spPr>
          <a:xfrm>
            <a:off x="1143000" y="7048195"/>
            <a:ext cx="381305" cy="192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7213702"/>
            <a:ext cx="36201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정의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명세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설계</a:t>
            </a:r>
            <a:endParaRPr lang="en-US" sz="1425" dirty="0"/>
          </a:p>
        </p:txBody>
      </p:sp>
      <p:sp>
        <p:nvSpPr>
          <p:cNvPr id="14" name="Text 10"/>
          <p:cNvSpPr txBox="1"/>
          <p:nvPr/>
        </p:nvSpPr>
        <p:spPr>
          <a:xfrm>
            <a:off x="5143500" y="4858207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143500" y="5086807"/>
            <a:ext cx="3620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0" b="1" spc="-600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0" dirty="0"/>
          </a:p>
        </p:txBody>
      </p:sp>
      <p:sp>
        <p:nvSpPr>
          <p:cNvPr id="16" name="Text 12"/>
          <p:cNvSpPr txBox="1"/>
          <p:nvPr/>
        </p:nvSpPr>
        <p:spPr>
          <a:xfrm>
            <a:off x="5143500" y="6572707"/>
            <a:ext cx="3620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· 통합</a:t>
            </a:r>
            <a:endParaRPr lang="en-US" sz="2100" dirty="0"/>
          </a:p>
        </p:txBody>
      </p:sp>
      <p:pic>
        <p:nvPicPr>
          <p:cNvPr id="17" name="Image 2" descr="gen-dedup-c5a3d0574c6276804148619de63a88ea.png">    </p:cNvPr>
          <p:cNvPicPr>
            <a:picLocks noChangeAspect="1"/>
          </p:cNvPicPr>
          <p:nvPr/>
        </p:nvPicPr>
        <p:blipFill>
          <a:blip r:embed="rId3"/>
          <a:srcRect l="0" r="0" t="-360" b="-360"/>
          <a:stretch/>
        </p:blipFill>
        <p:spPr>
          <a:xfrm>
            <a:off x="5143500" y="7048195"/>
            <a:ext cx="381305" cy="192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43500" y="7213702"/>
            <a:ext cx="36201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API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 화면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 연동</a:t>
            </a:r>
            <a:endParaRPr lang="en-US" sz="1425" dirty="0"/>
          </a:p>
        </p:txBody>
      </p:sp>
      <p:sp>
        <p:nvSpPr>
          <p:cNvPr id="19" name="Text 14"/>
          <p:cNvSpPr txBox="1"/>
          <p:nvPr/>
        </p:nvSpPr>
        <p:spPr>
          <a:xfrm>
            <a:off x="9144000" y="4858207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03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144000" y="5086807"/>
            <a:ext cx="3620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0" b="1" spc="-600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0" y="6572707"/>
            <a:ext cx="3620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· 검증</a:t>
            </a:r>
            <a:endParaRPr lang="en-US" sz="2100" dirty="0"/>
          </a:p>
        </p:txBody>
      </p:sp>
      <p:pic>
        <p:nvPicPr>
          <p:cNvPr id="22" name="Image 3" descr="gen-dedup-c5a3d0574c6276804148619de63a88ea.png">    </p:cNvPr>
          <p:cNvPicPr>
            <a:picLocks noChangeAspect="1"/>
          </p:cNvPicPr>
          <p:nvPr/>
        </p:nvPicPr>
        <p:blipFill>
          <a:blip r:embed="rId4"/>
          <a:srcRect l="0" r="0" t="-360" b="-360"/>
          <a:stretch/>
        </p:blipFill>
        <p:spPr>
          <a:xfrm>
            <a:off x="9144000" y="7048195"/>
            <a:ext cx="381305" cy="192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4000" y="7213702"/>
            <a:ext cx="36201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테스트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테스트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수정</a:t>
            </a:r>
            <a:endParaRPr lang="en-US" sz="1425" dirty="0"/>
          </a:p>
        </p:txBody>
      </p:sp>
      <p:sp>
        <p:nvSpPr>
          <p:cNvPr id="24" name="Text 18"/>
          <p:cNvSpPr txBox="1"/>
          <p:nvPr/>
        </p:nvSpPr>
        <p:spPr>
          <a:xfrm>
            <a:off x="13144500" y="4858207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04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13144500" y="5086807"/>
            <a:ext cx="36201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0" b="1" spc="-600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0" dirty="0"/>
          </a:p>
        </p:txBody>
      </p:sp>
      <p:sp>
        <p:nvSpPr>
          <p:cNvPr id="26" name="Text 20"/>
          <p:cNvSpPr txBox="1"/>
          <p:nvPr/>
        </p:nvSpPr>
        <p:spPr>
          <a:xfrm>
            <a:off x="13144500" y="6572707"/>
            <a:ext cx="3620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21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· 운영</a:t>
            </a:r>
            <a:endParaRPr lang="en-US" sz="2100" dirty="0"/>
          </a:p>
        </p:txBody>
      </p:sp>
      <p:pic>
        <p:nvPicPr>
          <p:cNvPr id="27" name="Image 4" descr="gen-dedup-c5a3d0574c6276804148619de63a88ea.png">    </p:cNvPr>
          <p:cNvPicPr>
            <a:picLocks noChangeAspect="1"/>
          </p:cNvPicPr>
          <p:nvPr/>
        </p:nvPicPr>
        <p:blipFill>
          <a:blip r:embed="rId5"/>
          <a:srcRect l="0" r="0" t="-360" b="-360"/>
          <a:stretch/>
        </p:blipFill>
        <p:spPr>
          <a:xfrm>
            <a:off x="13144500" y="7048195"/>
            <a:ext cx="381305" cy="192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144500" y="7213702"/>
            <a:ext cx="36201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배포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확인</a:t>
            </a:r>
            <a:pPr algn="l" indent="0" marL="0">
              <a:lnSpc>
                <a:spcPts val="2423"/>
              </a:lnSpc>
              <a:buNone/>
            </a:pPr>
            <a:endParaRPr lang="en-US" sz="1425" dirty="0"/>
          </a:p>
          <a:p>
            <a:pPr algn="l" indent="0" marL="0">
              <a:lnSpc>
                <a:spcPts val="2423"/>
              </a:lnSpc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정리</a:t>
            </a:r>
            <a:endParaRPr lang="en-US" sz="1425" dirty="0"/>
          </a:p>
        </p:txBody>
      </p:sp>
      <p:sp>
        <p:nvSpPr>
          <p:cNvPr id="29" name="Text 22"/>
          <p:cNvSpPr txBox="1"/>
          <p:nvPr/>
        </p:nvSpPr>
        <p:spPr>
          <a:xfrm>
            <a:off x="1524305" y="9320479"/>
            <a:ext cx="664128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단계의 산출물</a:t>
            </a:r>
            <a:pPr algn="l" indent="0" marL="0"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기능 정의서 · API 계약 · 테스트 계획 · 실행 가이드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035d872ce9c8ceb480a9fb1f28ab4610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4714646"/>
            <a:ext cx="16002000" cy="9144"/>
          </a:xfrm>
          <a:prstGeom prst="rect">
            <a:avLst/>
          </a:prstGeom>
        </p:spPr>
      </p:pic>
      <p:pic>
        <p:nvPicPr>
          <p:cNvPr id="4" name="Image 2" descr="gen-dedup-ce46635f0ee83852d09cc7b2b100d1a7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5667451"/>
            <a:ext cx="16002000" cy="9144"/>
          </a:xfrm>
          <a:prstGeom prst="rect">
            <a:avLst/>
          </a:prstGeom>
        </p:spPr>
      </p:pic>
      <p:pic>
        <p:nvPicPr>
          <p:cNvPr id="5" name="Image 3" descr="gen-dedup-ce46635f0ee83852d09cc7b2b100d1a7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6620256"/>
            <a:ext cx="16002000" cy="9144"/>
          </a:xfrm>
          <a:prstGeom prst="rect">
            <a:avLst/>
          </a:prstGeom>
        </p:spPr>
      </p:pic>
      <p:pic>
        <p:nvPicPr>
          <p:cNvPr id="6" name="Image 4" descr="gen-dedup-ce46635f0ee83852d09cc7b2b100d1a7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143000" y="7572146"/>
            <a:ext cx="16002000" cy="9144"/>
          </a:xfrm>
          <a:prstGeom prst="rect">
            <a:avLst/>
          </a:prstGeom>
        </p:spPr>
      </p:pic>
      <p:pic>
        <p:nvPicPr>
          <p:cNvPr id="7" name="Image 5" descr="gen-dedup-ce46635f0ee83852d09cc7b2b100d1a7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1143000" y="8524951"/>
            <a:ext cx="16002000" cy="9144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15430500" y="5009998"/>
            <a:ext cx="1714500" cy="304495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1"/>
          <p:cNvSpPr/>
          <p:nvPr/>
        </p:nvSpPr>
        <p:spPr>
          <a:xfrm>
            <a:off x="15430500" y="5962802"/>
            <a:ext cx="1714500" cy="304495"/>
          </a:xfrm>
          <a:prstGeom prst="rect">
            <a:avLst/>
          </a:prstGeom>
          <a:solidFill>
            <a:srgbClr val="00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2"/>
          <p:cNvSpPr/>
          <p:nvPr/>
        </p:nvSpPr>
        <p:spPr>
          <a:xfrm>
            <a:off x="15430500" y="6915607"/>
            <a:ext cx="1714500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15430500" y="7867498"/>
            <a:ext cx="1714500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13" name="Text 5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16</a:t>
            </a:r>
            <a:endParaRPr lang="en-US" sz="105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1714500"/>
            <a:ext cx="2219249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DELIVERABLES · 07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산출물과 시연 준비</a:t>
            </a:r>
            <a:endParaRPr lang="en-US" sz="4800" dirty="0"/>
          </a:p>
        </p:txBody>
      </p:sp>
      <p:sp>
        <p:nvSpPr>
          <p:cNvPr id="16" name="Text 8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설계 문서 중심이며, 구현 증빙은 준비되는 순서로 추가합니다.</a:t>
            </a:r>
            <a:endParaRPr lang="en-US" sz="165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4381805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900" dirty="0"/>
          </a:p>
        </p:txBody>
      </p:sp>
      <p:sp>
        <p:nvSpPr>
          <p:cNvPr id="18" name="Text 10"/>
          <p:cNvSpPr txBox="1"/>
          <p:nvPr/>
        </p:nvSpPr>
        <p:spPr>
          <a:xfrm>
            <a:off x="4953305" y="4381805"/>
            <a:ext cx="8572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14287500" y="4381805"/>
            <a:ext cx="2857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216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4953305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산출물</a:t>
            </a:r>
            <a:endParaRPr lang="en-US" sz="1950" dirty="0"/>
          </a:p>
        </p:txBody>
      </p:sp>
      <p:sp>
        <p:nvSpPr>
          <p:cNvPr id="21" name="Text 13"/>
          <p:cNvSpPr txBox="1"/>
          <p:nvPr/>
        </p:nvSpPr>
        <p:spPr>
          <a:xfrm>
            <a:off x="4953305" y="4953305"/>
            <a:ext cx="8572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정의서 · 기능 분해표 · MVP 계획서</a:t>
            </a:r>
            <a:endParaRPr lang="en-US" sz="1650" dirty="0"/>
          </a:p>
        </p:txBody>
      </p:sp>
      <p:sp>
        <p:nvSpPr>
          <p:cNvPr id="22" name="Text 14"/>
          <p:cNvSpPr txBox="1"/>
          <p:nvPr/>
        </p:nvSpPr>
        <p:spPr>
          <a:xfrm>
            <a:off x="16028518" y="5091379"/>
            <a:ext cx="5239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READY</a:t>
            </a:r>
            <a:endParaRPr lang="en-US" sz="975" dirty="0"/>
          </a:p>
        </p:txBody>
      </p:sp>
      <p:sp>
        <p:nvSpPr>
          <p:cNvPr id="23" name="Text 15"/>
          <p:cNvSpPr txBox="1"/>
          <p:nvPr/>
        </p:nvSpPr>
        <p:spPr>
          <a:xfrm>
            <a:off x="1143000" y="5905195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설계</a:t>
            </a:r>
            <a:endParaRPr lang="en-US" sz="1950" dirty="0"/>
          </a:p>
        </p:txBody>
      </p:sp>
      <p:sp>
        <p:nvSpPr>
          <p:cNvPr id="24" name="Text 16"/>
          <p:cNvSpPr txBox="1"/>
          <p:nvPr/>
        </p:nvSpPr>
        <p:spPr>
          <a:xfrm>
            <a:off x="4953305" y="5905195"/>
            <a:ext cx="8572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· API 계약 · 데이터 흐름</a:t>
            </a:r>
            <a:endParaRPr lang="en-US" sz="1650" dirty="0"/>
          </a:p>
        </p:txBody>
      </p:sp>
      <p:sp>
        <p:nvSpPr>
          <p:cNvPr id="25" name="Text 17"/>
          <p:cNvSpPr txBox="1"/>
          <p:nvPr/>
        </p:nvSpPr>
        <p:spPr>
          <a:xfrm>
            <a:off x="16028518" y="6043270"/>
            <a:ext cx="52395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READY</a:t>
            </a:r>
            <a:endParaRPr lang="en-US" sz="975" dirty="0"/>
          </a:p>
        </p:txBody>
      </p:sp>
      <p:sp>
        <p:nvSpPr>
          <p:cNvPr id="26" name="Text 18"/>
          <p:cNvSpPr txBox="1"/>
          <p:nvPr/>
        </p:nvSpPr>
        <p:spPr>
          <a:xfrm>
            <a:off x="1143000" y="6858000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증빙</a:t>
            </a:r>
            <a:endParaRPr lang="en-US" sz="1950" dirty="0"/>
          </a:p>
        </p:txBody>
      </p:sp>
      <p:sp>
        <p:nvSpPr>
          <p:cNvPr id="27" name="Text 19"/>
          <p:cNvSpPr txBox="1"/>
          <p:nvPr/>
        </p:nvSpPr>
        <p:spPr>
          <a:xfrm>
            <a:off x="4953305" y="6858000"/>
            <a:ext cx="8572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· 분석 · 결과 화면 캡처를 추가</a:t>
            </a:r>
            <a:endParaRPr lang="en-US" sz="1650" dirty="0"/>
          </a:p>
        </p:txBody>
      </p:sp>
      <p:sp>
        <p:nvSpPr>
          <p:cNvPr id="28" name="Text 20"/>
          <p:cNvSpPr txBox="1"/>
          <p:nvPr/>
        </p:nvSpPr>
        <p:spPr>
          <a:xfrm>
            <a:off x="15941650" y="6996074"/>
            <a:ext cx="6958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PENDING</a:t>
            </a:r>
            <a:endParaRPr lang="en-US" sz="975" dirty="0"/>
          </a:p>
        </p:txBody>
      </p:sp>
      <p:sp>
        <p:nvSpPr>
          <p:cNvPr id="29" name="Text 21"/>
          <p:cNvSpPr txBox="1"/>
          <p:nvPr/>
        </p:nvSpPr>
        <p:spPr>
          <a:xfrm>
            <a:off x="1143000" y="7810805"/>
            <a:ext cx="3620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증빙</a:t>
            </a:r>
            <a:endParaRPr lang="en-US" sz="1950" dirty="0"/>
          </a:p>
        </p:txBody>
      </p:sp>
      <p:sp>
        <p:nvSpPr>
          <p:cNvPr id="30" name="Text 22"/>
          <p:cNvSpPr txBox="1"/>
          <p:nvPr/>
        </p:nvSpPr>
        <p:spPr>
          <a:xfrm>
            <a:off x="4953305" y="7810805"/>
            <a:ext cx="8572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· 오류 · 부분 결과 테스트 기록</a:t>
            </a:r>
            <a:endParaRPr lang="en-US" sz="1650" dirty="0"/>
          </a:p>
        </p:txBody>
      </p:sp>
      <p:sp>
        <p:nvSpPr>
          <p:cNvPr id="31" name="Text 23"/>
          <p:cNvSpPr txBox="1"/>
          <p:nvPr/>
        </p:nvSpPr>
        <p:spPr>
          <a:xfrm>
            <a:off x="15941650" y="7948879"/>
            <a:ext cx="69585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PENDING</a:t>
            </a:r>
            <a:endParaRPr lang="en-US" sz="975" dirty="0"/>
          </a:p>
        </p:txBody>
      </p:sp>
      <p:sp>
        <p:nvSpPr>
          <p:cNvPr id="32" name="Text 24"/>
          <p:cNvSpPr txBox="1"/>
          <p:nvPr/>
        </p:nvSpPr>
        <p:spPr>
          <a:xfrm>
            <a:off x="1143000" y="8953805"/>
            <a:ext cx="15240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실행 화면과 테스트 결과가 준비되면 이 슬라이드 뒤에 추가합니다.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476902"/>
            <a:ext cx="7810805" cy="219090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4476902"/>
            <a:ext cx="7810805" cy="2190902"/>
          </a:xfrm>
          <a:prstGeom prst="rect">
            <a:avLst/>
          </a:prstGeom>
          <a:solidFill>
            <a:srgbClr val="F7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6953098"/>
            <a:ext cx="7810805" cy="2190902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6953098"/>
            <a:ext cx="7810805" cy="2190902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714500"/>
            <a:ext cx="129113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SCOPE · 08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구현 범위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MVP에서 다루는 네 영역은 각각 독립된 입력·출력 계약을 가집니다.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4934102"/>
            <a:ext cx="2002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  <p:sp>
        <p:nvSpPr>
          <p:cNvPr id="13" name="Text 10"/>
          <p:cNvSpPr txBox="1"/>
          <p:nvPr/>
        </p:nvSpPr>
        <p:spPr>
          <a:xfrm>
            <a:off x="1868119" y="4762195"/>
            <a:ext cx="2307946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조건 입력</a:t>
            </a:r>
            <a:endParaRPr lang="en-US" sz="2400" dirty="0"/>
          </a:p>
        </p:txBody>
      </p:sp>
      <p:pic>
        <p:nvPicPr>
          <p:cNvPr id="14" name="Image 1" descr="gen-dedup-c5a3d0574c6276804148619de63a88ea.png">    </p:cNvPr>
          <p:cNvPicPr>
            <a:picLocks noChangeAspect="1"/>
          </p:cNvPicPr>
          <p:nvPr/>
        </p:nvPicPr>
        <p:blipFill>
          <a:blip r:embed="rId4"/>
          <a:srcRect l="0" r="0" t="-360" b="-360"/>
          <a:stretch/>
        </p:blipFill>
        <p:spPr>
          <a:xfrm>
            <a:off x="1524305" y="5277002"/>
            <a:ext cx="381305" cy="192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24305" y="5447995"/>
            <a:ext cx="7049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 · 기간 · 위험 성향 · 허용 손실 ·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선호 자산 유형 · 관심 테마 입력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715500" y="4934102"/>
            <a:ext cx="2103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17" name="Text 13"/>
          <p:cNvSpPr txBox="1"/>
          <p:nvPr/>
        </p:nvSpPr>
        <p:spPr>
          <a:xfrm>
            <a:off x="10077602" y="4762195"/>
            <a:ext cx="147584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선별</a:t>
            </a:r>
            <a:endParaRPr lang="en-US" sz="2400" dirty="0"/>
          </a:p>
        </p:txBody>
      </p:sp>
      <p:pic>
        <p:nvPicPr>
          <p:cNvPr id="18" name="Image 2" descr="gen-dedup-c5a3d0574c6276804148619de63a88ea.png">    </p:cNvPr>
          <p:cNvPicPr>
            <a:picLocks noChangeAspect="1"/>
          </p:cNvPicPr>
          <p:nvPr/>
        </p:nvPicPr>
        <p:blipFill>
          <a:blip r:embed="rId5"/>
          <a:srcRect l="0" r="0" t="-360" b="-360"/>
          <a:stretch/>
        </p:blipFill>
        <p:spPr>
          <a:xfrm>
            <a:off x="9715500" y="5277002"/>
            <a:ext cx="381305" cy="192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715500" y="5447995"/>
            <a:ext cx="7049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· 거래 데이터가 유효하고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투자금으로 매수 가능한 ETF를 최대 200개까지 1차 선별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524305" y="7410298"/>
            <a:ext cx="2194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1890065" y="7239305"/>
            <a:ext cx="147584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분석</a:t>
            </a:r>
            <a:endParaRPr lang="en-US" sz="2400" dirty="0"/>
          </a:p>
        </p:txBody>
      </p:sp>
      <p:pic>
        <p:nvPicPr>
          <p:cNvPr id="22" name="Image 3" descr="gen-dedup-c5a3d0574c6276804148619de63a88ea.png">    </p:cNvPr>
          <p:cNvPicPr>
            <a:picLocks noChangeAspect="1"/>
          </p:cNvPicPr>
          <p:nvPr/>
        </p:nvPicPr>
        <p:blipFill>
          <a:blip r:embed="rId6"/>
          <a:srcRect l="0" r="0" t="-360" b="-360"/>
          <a:stretch/>
        </p:blipFill>
        <p:spPr>
          <a:xfrm>
            <a:off x="1524305" y="7753198"/>
            <a:ext cx="381305" cy="192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24305" y="7924190"/>
            <a:ext cx="7049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 수익률 · 연환산 변동성 · MDD ·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샤프지수 · 평균 거래대금 계산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715500" y="7410298"/>
            <a:ext cx="2194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10082174" y="7239305"/>
            <a:ext cx="2691079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· 감성 분석</a:t>
            </a:r>
            <a:endParaRPr lang="en-US" sz="2400" dirty="0"/>
          </a:p>
        </p:txBody>
      </p:sp>
      <p:pic>
        <p:nvPicPr>
          <p:cNvPr id="26" name="Image 4" descr="gen-dedup-c5a3d0574c6276804148619de63a88ea.png">    </p:cNvPr>
          <p:cNvPicPr>
            <a:picLocks noChangeAspect="1"/>
          </p:cNvPicPr>
          <p:nvPr/>
        </p:nvPicPr>
        <p:blipFill>
          <a:blip r:embed="rId7"/>
          <a:srcRect l="0" r="0" t="-360" b="-360"/>
          <a:stretch/>
        </p:blipFill>
        <p:spPr>
          <a:xfrm>
            <a:off x="9715500" y="7753198"/>
            <a:ext cx="381305" cy="192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15500" y="7924190"/>
            <a:ext cx="70491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후보의 뉴스에 대해 검증 뉴스 수 ·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 점수 · 핵심 이슈 · 위험 요인 표시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9477756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정량과 뉴스는 병렬로 계산되며, 결과 화면에서 함께 비교됩니다.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307616b9703418b94afcbdf0c8430d81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9144000" y="4476902"/>
            <a:ext cx="9144" cy="43818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9144000"/>
            <a:ext cx="16002000" cy="5715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" y="9144000"/>
            <a:ext cx="38405" cy="5715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16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714500"/>
            <a:ext cx="128839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 · 09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조건 입력과 후보 선별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476902"/>
            <a:ext cx="7429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781398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입력하는 조건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143000" y="5524805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43000" y="6105449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143000" y="5705856"/>
            <a:ext cx="5888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투자금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25005" y="5705856"/>
            <a:ext cx="17236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100만 원 – 10억 원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143000" y="6687007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6286500"/>
            <a:ext cx="9034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기간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744054" y="6286500"/>
            <a:ext cx="9866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– 60개월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1143000" y="7267651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43000" y="6867144"/>
            <a:ext cx="21598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성향 · 허용 손실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701077" y="6867144"/>
            <a:ext cx="109910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지정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143000" y="7848295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3000" y="7448702"/>
            <a:ext cx="141366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선호 자산 유형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7296912" y="7448702"/>
            <a:ext cx="15197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 · 채권 · 배당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1143000" y="8429854"/>
            <a:ext cx="74295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43000" y="8029346"/>
            <a:ext cx="23554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현금성 비중 · 관심 테마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7536485" y="8029346"/>
            <a:ext cx="12947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산업군 키워드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715500" y="4476902"/>
            <a:ext cx="7429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FILTER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9715500" y="4781398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좁히는 후보</a:t>
            </a:r>
            <a:endParaRPr lang="en-US" sz="2400" dirty="0"/>
          </a:p>
        </p:txBody>
      </p:sp>
      <p:sp>
        <p:nvSpPr>
          <p:cNvPr id="30" name="Text 26"/>
          <p:cNvSpPr txBox="1"/>
          <p:nvPr/>
        </p:nvSpPr>
        <p:spPr>
          <a:xfrm>
            <a:off x="9715500" y="5524805"/>
            <a:ext cx="3057754" cy="1543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0" b="1" spc="-675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13500" dirty="0"/>
          </a:p>
        </p:txBody>
      </p:sp>
      <p:sp>
        <p:nvSpPr>
          <p:cNvPr id="31" name="Text 27"/>
          <p:cNvSpPr txBox="1"/>
          <p:nvPr/>
        </p:nvSpPr>
        <p:spPr>
          <a:xfrm>
            <a:off x="12997282" y="6620256"/>
            <a:ext cx="790956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개까지</a:t>
            </a:r>
            <a:endParaRPr lang="en-US" sz="2400" dirty="0"/>
          </a:p>
        </p:txBody>
      </p:sp>
      <p:sp>
        <p:nvSpPr>
          <p:cNvPr id="32" name="Text 28"/>
          <p:cNvSpPr txBox="1"/>
          <p:nvPr/>
        </p:nvSpPr>
        <p:spPr>
          <a:xfrm>
            <a:off x="9715500" y="7434986"/>
            <a:ext cx="7429500" cy="718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KRX ETF 데이터에서 가격 · 거래 데이터가 유효한 종목 중,</a:t>
            </a:r>
            <a:pPr algn="l" indent="0" marL="0">
              <a:lnSpc>
                <a:spcPts val="2640"/>
              </a:lnSpc>
              <a:buNone/>
            </a:pP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투자금으로 매수 가능한 ETF만 1차 후보에 포함</a:t>
            </a:r>
            <a:endParaRPr lang="en-US" sz="1650" dirty="0"/>
          </a:p>
        </p:txBody>
      </p:sp>
      <p:sp>
        <p:nvSpPr>
          <p:cNvPr id="33" name="Text 29"/>
          <p:cNvSpPr txBox="1"/>
          <p:nvPr/>
        </p:nvSpPr>
        <p:spPr>
          <a:xfrm>
            <a:off x="1524305" y="9320479"/>
            <a:ext cx="933419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원칙</a:t>
            </a:r>
            <a:pPr algn="l" indent="0" marL="0">
              <a:buNone/>
            </a:pPr>
            <a:r>
              <a:rPr lang="en-US" sz="1425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입력값이 바뀌면 후보군도 즉시 다시 계산됩니다. 확정된 추천이 아니라, 근거의 재계산입니다.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ce46635f0ee83852d09cc7b2b100d1a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6476695"/>
            <a:ext cx="16002000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8953805"/>
            <a:ext cx="16002000" cy="7616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2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16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1714500"/>
            <a:ext cx="115488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· 10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수집과 보관 구조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4476902"/>
            <a:ext cx="710489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1974190" y="4638751"/>
            <a:ext cx="179588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스냅샷 확인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5091379"/>
            <a:ext cx="781080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시작 시 최신 영업일 ETF 스냅샷과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12개월 이력을 확인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334195" y="4476902"/>
            <a:ext cx="6858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10241280" y="4638751"/>
            <a:ext cx="179588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결손일 수집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9334195" y="5091379"/>
            <a:ext cx="781080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 날짜만 KRX Open API에서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수집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6953098"/>
            <a:ext cx="695858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Text 12"/>
          <p:cNvSpPr txBox="1"/>
          <p:nvPr/>
        </p:nvSpPr>
        <p:spPr>
          <a:xfrm>
            <a:off x="2064715" y="7114946"/>
            <a:ext cx="181417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 저장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7568489"/>
            <a:ext cx="781080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ETF 시세 · 뉴스 · 구성 종목 데이터를 저장해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 데이터 재사용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334195" y="6953098"/>
            <a:ext cx="705002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200" dirty="0"/>
          </a:p>
        </p:txBody>
      </p:sp>
      <p:sp>
        <p:nvSpPr>
          <p:cNvPr id="19" name="Text 15"/>
          <p:cNvSpPr txBox="1"/>
          <p:nvPr/>
        </p:nvSpPr>
        <p:spPr>
          <a:xfrm>
            <a:off x="10265969" y="7114946"/>
            <a:ext cx="147584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검증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9334195" y="7568489"/>
            <a:ext cx="7810805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 URL · 검색 기간 · ETF 관련성을</a:t>
            </a:r>
            <a:pPr algn="l" indent="0" marL="0">
              <a:lnSpc>
                <a:spcPts val="2325"/>
              </a:lnSpc>
              <a:buNone/>
            </a:pP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기준으로 NAVER 뉴스 결과 검증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1524305" y="9219895"/>
            <a:ext cx="11598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KODEX ETF는 삼성자산운용 공식 구성 종목 PDF를 조회할 수 있으며, 지원하지 않는 운용사는 제한 상태를 표시합니다.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ce46635f0ee83852d09cc7b2b100d1a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6667805"/>
            <a:ext cx="16002000" cy="9144"/>
          </a:xfrm>
          <a:prstGeom prst="rect">
            <a:avLst/>
          </a:prstGeom>
        </p:spPr>
      </p:pic>
      <p:pic>
        <p:nvPicPr>
          <p:cNvPr id="4" name="Image 2" descr="gen-dedup-55fea0b9c6c92f3189fe8b0b547d9f92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9144000" y="4476902"/>
            <a:ext cx="9144" cy="466709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1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16</a:t>
            </a:r>
            <a:endParaRPr lang="en-US" sz="105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1714500"/>
            <a:ext cx="142280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OUTPUT · 11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구성</a:t>
            </a:r>
            <a:endParaRPr lang="en-US" sz="48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4476902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4743907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지표 계산</a:t>
            </a:r>
            <a:endParaRPr lang="en-US" sz="2400" dirty="0"/>
          </a:p>
        </p:txBody>
      </p:sp>
      <p:pic>
        <p:nvPicPr>
          <p:cNvPr id="11" name="Image 3" descr="gen-dedup-c5a3d0574c6276804148619de63a88ea.png">    </p:cNvPr>
          <p:cNvPicPr>
            <a:picLocks noChangeAspect="1"/>
          </p:cNvPicPr>
          <p:nvPr/>
        </p:nvPicPr>
        <p:blipFill>
          <a:blip r:embed="rId4"/>
          <a:srcRect l="0" r="0" t="-360" b="-360"/>
          <a:stretch/>
        </p:blipFill>
        <p:spPr>
          <a:xfrm>
            <a:off x="1143000" y="5296205"/>
            <a:ext cx="381305" cy="192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5467198"/>
            <a:ext cx="7810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종가 기준 기간 수익률 · 연환산 변동성 ·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MDD · 샤프지수 · 평균 거래대금을 계산합니다.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9334195" y="4476902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9334195" y="4743907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감성 분석</a:t>
            </a:r>
            <a:endParaRPr lang="en-US" sz="2400" dirty="0"/>
          </a:p>
        </p:txBody>
      </p:sp>
      <p:pic>
        <p:nvPicPr>
          <p:cNvPr id="15" name="Image 4" descr="gen-dedup-c5a3d0574c6276804148619de63a88ea.png">    </p:cNvPr>
          <p:cNvPicPr>
            <a:picLocks noChangeAspect="1"/>
          </p:cNvPicPr>
          <p:nvPr/>
        </p:nvPicPr>
        <p:blipFill>
          <a:blip r:embed="rId5"/>
          <a:srcRect l="0" r="0" t="-360" b="-360"/>
          <a:stretch/>
        </p:blipFill>
        <p:spPr>
          <a:xfrm>
            <a:off x="9334195" y="5296205"/>
            <a:ext cx="381305" cy="192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334195" y="5467198"/>
            <a:ext cx="7810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뉴스 수 · 감성 점수 · 핵심 이슈 ·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요인을 표시합니다.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7144207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COMPOSE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7410298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구성</a:t>
            </a:r>
            <a:endParaRPr lang="en-US" sz="2400" dirty="0"/>
          </a:p>
        </p:txBody>
      </p:sp>
      <p:pic>
        <p:nvPicPr>
          <p:cNvPr id="19" name="Image 5" descr="gen-dedup-c5a3d0574c6276804148619de63a88ea.png">    </p:cNvPr>
          <p:cNvPicPr>
            <a:picLocks noChangeAspect="1"/>
          </p:cNvPicPr>
          <p:nvPr/>
        </p:nvPicPr>
        <p:blipFill>
          <a:blip r:embed="rId6"/>
          <a:srcRect l="0" r="0" t="-360" b="-360"/>
          <a:stretch/>
        </p:blipFill>
        <p:spPr>
          <a:xfrm>
            <a:off x="1143000" y="7962595"/>
            <a:ext cx="381305" cy="1920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43000" y="8134502"/>
            <a:ext cx="7810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점수와 뉴스 근거가 충족되면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제공용 포트폴리오를 구성합니다.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9334195" y="7144207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DISPLAY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9334195" y="7410298"/>
            <a:ext cx="78108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화면 표시</a:t>
            </a:r>
            <a:endParaRPr lang="en-US" sz="2400" dirty="0"/>
          </a:p>
        </p:txBody>
      </p:sp>
      <p:pic>
        <p:nvPicPr>
          <p:cNvPr id="23" name="Image 6" descr="gen-dedup-c5a3d0574c6276804148619de63a88ea.png">    </p:cNvPr>
          <p:cNvPicPr>
            <a:picLocks noChangeAspect="1"/>
          </p:cNvPicPr>
          <p:nvPr/>
        </p:nvPicPr>
        <p:blipFill>
          <a:blip r:embed="rId7"/>
          <a:srcRect l="0" r="0" t="-360" b="-360"/>
          <a:stretch/>
        </p:blipFill>
        <p:spPr>
          <a:xfrm>
            <a:off x="9334195" y="7962595"/>
            <a:ext cx="381305" cy="192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334195" y="8134502"/>
            <a:ext cx="7810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상태 · 정렬 표 · 레이더 차트 ·</a:t>
            </a:r>
            <a:pPr algn="l" indent="0" marL="0">
              <a:lnSpc>
                <a:spcPts val="2400"/>
              </a:lnSpc>
              <a:buNone/>
            </a:pP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· 위험 근거 · 구성 종목을 확인합니다.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143000" y="9477756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4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KOFR 가정과 주간 표본일은 환경 변수로 관리합니다.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ce46635f0ee83852d09cc7b2b100d1a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5619902"/>
            <a:ext cx="16002000" cy="9144"/>
          </a:xfrm>
          <a:prstGeom prst="rect">
            <a:avLst/>
          </a:prstGeom>
        </p:spPr>
      </p:pic>
      <p:pic>
        <p:nvPicPr>
          <p:cNvPr id="4" name="Image 2" descr="gen-dedup-ce46635f0ee83852d09cc7b2b100d1a7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7048195"/>
            <a:ext cx="16002000" cy="9144"/>
          </a:xfrm>
          <a:prstGeom prst="rect">
            <a:avLst/>
          </a:prstGeom>
        </p:spPr>
      </p:pic>
      <p:pic>
        <p:nvPicPr>
          <p:cNvPr id="5" name="Image 3" descr="gen-dedup-ce46635f0ee83852d09cc7b2b100d1a7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8477402"/>
            <a:ext cx="16002000" cy="9144"/>
          </a:xfrm>
          <a:prstGeom prst="rect">
            <a:avLst/>
          </a:prstGeom>
        </p:spPr>
      </p:pic>
      <p:pic>
        <p:nvPicPr>
          <p:cNvPr id="6" name="Image 4" descr="gen-dedup-ce46635f0ee83852d09cc7b2b100d1a7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143000" y="9905695"/>
            <a:ext cx="16002000" cy="9144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1143000" y="1638605"/>
            <a:ext cx="1619402" cy="3044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1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2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16</a:t>
            </a:r>
            <a:endParaRPr lang="en-US" sz="1050" dirty="0"/>
          </a:p>
        </p:txBody>
      </p:sp>
      <p:sp>
        <p:nvSpPr>
          <p:cNvPr id="10" name="Text 3"/>
          <p:cNvSpPr txBox="1"/>
          <p:nvPr/>
        </p:nvSpPr>
        <p:spPr>
          <a:xfrm>
            <a:off x="1533449" y="1723644"/>
            <a:ext cx="103967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3조 추가 작업</a:t>
            </a:r>
            <a:endParaRPr lang="en-US" sz="900" dirty="0"/>
          </a:p>
        </p:txBody>
      </p:sp>
      <p:sp>
        <p:nvSpPr>
          <p:cNvPr id="11" name="Text 4"/>
          <p:cNvSpPr txBox="1"/>
          <p:nvPr/>
        </p:nvSpPr>
        <p:spPr>
          <a:xfrm>
            <a:off x="2876702" y="1699870"/>
            <a:ext cx="115671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· 12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2190902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48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4476902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975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4695444"/>
            <a:ext cx="47631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+ Uvicorn</a:t>
            </a:r>
            <a:endParaRPr lang="en-US" sz="2700" dirty="0"/>
          </a:p>
        </p:txBody>
      </p:sp>
      <p:sp>
        <p:nvSpPr>
          <p:cNvPr id="15" name="Text 8"/>
          <p:cNvSpPr txBox="1"/>
          <p:nvPr/>
        </p:nvSpPr>
        <p:spPr>
          <a:xfrm>
            <a:off x="7619695" y="4686300"/>
            <a:ext cx="9525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비동기 처리에 최적화된 경량 백엔드</a:t>
            </a:r>
            <a:endParaRPr lang="en-US" sz="165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5905195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6124651"/>
            <a:ext cx="47631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SQLite</a:t>
            </a:r>
            <a:endParaRPr lang="en-US" sz="2700" dirty="0"/>
          </a:p>
        </p:txBody>
      </p:sp>
      <p:sp>
        <p:nvSpPr>
          <p:cNvPr id="18" name="Text 11"/>
          <p:cNvSpPr txBox="1"/>
          <p:nvPr/>
        </p:nvSpPr>
        <p:spPr>
          <a:xfrm>
            <a:off x="7619695" y="6115507"/>
            <a:ext cx="9525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환경에서 즉시 동작 가능한 경량 DB</a:t>
            </a:r>
            <a:endParaRPr lang="en-US" sz="165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7334402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975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7552944"/>
            <a:ext cx="47631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API</a:t>
            </a:r>
            <a:endParaRPr lang="en-US" sz="2700" dirty="0"/>
          </a:p>
        </p:txBody>
      </p:sp>
      <p:sp>
        <p:nvSpPr>
          <p:cNvPr id="21" name="Text 14"/>
          <p:cNvSpPr txBox="1"/>
          <p:nvPr/>
        </p:nvSpPr>
        <p:spPr>
          <a:xfrm>
            <a:off x="7619695" y="7543800"/>
            <a:ext cx="9525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감성 분석과 핵심 이슈 추출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8762695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975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8982151"/>
            <a:ext cx="47631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 + TypeScript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619695" y="8973007"/>
            <a:ext cx="95253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개발 경험과 타입 안정성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476902"/>
            <a:ext cx="8572500" cy="495330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1638605"/>
            <a:ext cx="1619402" cy="3044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533449" y="1723644"/>
            <a:ext cx="103967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3조 추가 작업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876702" y="1699870"/>
            <a:ext cx="182331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 · 13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190902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구조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4762195"/>
            <a:ext cx="7810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 TREE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5124298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backend/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라우트 · 수집기 · 분석 · 포트폴리오</a:t>
            </a:r>
            <a:endParaRPr lang="en-US" sz="1425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5468112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app/</a:t>
            </a:r>
            <a:endParaRPr lang="en-US" sz="1425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5811926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</a:t>
            </a:r>
            <a:endParaRPr lang="en-US" sz="1425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6155741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requirements.txt</a:t>
            </a:r>
            <a:endParaRPr lang="en-US" sz="1425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6499555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frontend/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 기반 분석 화면과 API 호출 코드</a:t>
            </a:r>
            <a:endParaRPr lang="en-US" sz="1425" dirty="0"/>
          </a:p>
        </p:txBody>
      </p:sp>
      <p:sp>
        <p:nvSpPr>
          <p:cNvPr id="16" name="Text 13"/>
          <p:cNvSpPr txBox="1"/>
          <p:nvPr/>
        </p:nvSpPr>
        <p:spPr>
          <a:xfrm>
            <a:off x="1524305" y="6843370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</a:t>
            </a:r>
            <a:endParaRPr lang="en-US" sz="1425" dirty="0"/>
          </a:p>
        </p:txBody>
      </p:sp>
      <p:sp>
        <p:nvSpPr>
          <p:cNvPr id="17" name="Text 14"/>
          <p:cNvSpPr txBox="1"/>
          <p:nvPr/>
        </p:nvSpPr>
        <p:spPr>
          <a:xfrm>
            <a:off x="1524305" y="7187184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data/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SQLite DB (버전 관리 제외)</a:t>
            </a:r>
            <a:endParaRPr lang="en-US" sz="1425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7530998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00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docs/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· API 계약 · 테스트 계획</a:t>
            </a:r>
            <a:endParaRPr lang="en-US" sz="1425" dirty="0"/>
          </a:p>
        </p:txBody>
      </p:sp>
      <p:sp>
        <p:nvSpPr>
          <p:cNvPr id="19" name="Text 16"/>
          <p:cNvSpPr txBox="1"/>
          <p:nvPr/>
        </p:nvSpPr>
        <p:spPr>
          <a:xfrm>
            <a:off x="1524305" y="7874813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.env.example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변수 예시</a:t>
            </a:r>
            <a:endParaRPr lang="en-US" sz="1425" dirty="0"/>
          </a:p>
        </p:txBody>
      </p:sp>
      <p:sp>
        <p:nvSpPr>
          <p:cNvPr id="20" name="Text 17"/>
          <p:cNvSpPr txBox="1"/>
          <p:nvPr/>
        </p:nvSpPr>
        <p:spPr>
          <a:xfrm>
            <a:off x="1524305" y="8218627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1425" dirty="0"/>
          </a:p>
        </p:txBody>
      </p:sp>
      <p:sp>
        <p:nvSpPr>
          <p:cNvPr id="21" name="Text 18"/>
          <p:cNvSpPr txBox="1"/>
          <p:nvPr/>
        </p:nvSpPr>
        <p:spPr>
          <a:xfrm>
            <a:off x="10287000" y="4476902"/>
            <a:ext cx="6858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287000" y="4781398"/>
            <a:ext cx="6858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설계 원칙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287000" y="5524805"/>
            <a:ext cx="685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87000" y="6201461"/>
            <a:ext cx="685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87000" y="5724144"/>
            <a:ext cx="2670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744200" y="5724144"/>
            <a:ext cx="64008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Backend와 Frontend를 독립 실행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7000" y="6878117"/>
            <a:ext cx="685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287000" y="6400800"/>
            <a:ext cx="2670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744200" y="6400800"/>
            <a:ext cx="64008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data/ 디렉터리는 버전 관리에서 제외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287000" y="7553858"/>
            <a:ext cx="6858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287000" y="7077456"/>
            <a:ext cx="2670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744200" y="7077456"/>
            <a:ext cx="64008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docs/에 요구사항 · API 계약 · 테스트 계획 문서화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287000" y="7753198"/>
            <a:ext cx="2670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744200" y="7753198"/>
            <a:ext cx="64008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.env.example로 환경 변수 설정 가이드 제공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76395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8953805"/>
            <a:ext cx="16002000" cy="7616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1638605"/>
            <a:ext cx="1619402" cy="3044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16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533449" y="1723644"/>
            <a:ext cx="103967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3조 추가 작업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876702" y="1699870"/>
            <a:ext cx="102321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ENV · 14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190902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변수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3181198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루트의 </a:t>
            </a:r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복사해 </a:t>
            </a:r>
            <a:pPr algn="l" indent="0" marL="0">
              <a:buNone/>
            </a:pPr>
            <a:r>
              <a:rPr lang="en-US" sz="150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만든 뒤 필요한 API 키와 설정값을 입력합니다. 실제 키는 저장소에 커밋하지 않습니다.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43000" y="4476902"/>
            <a:ext cx="16002000" cy="914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5115154"/>
            <a:ext cx="16002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4677156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KRX ETF 시세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4381805" y="4690872"/>
            <a:ext cx="1276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KRX_API_KEY, ETF_DATABASE_PATH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43000" y="5753405"/>
            <a:ext cx="16002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5315407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계산 가정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4381805" y="5329123"/>
            <a:ext cx="1276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KOFR_ANNUAL_RATE_PERCENT, WEEKLY_SAMPLE_WEEKDAY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43000" y="6391656"/>
            <a:ext cx="16002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43000" y="5952744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NAVER 뉴스</a:t>
            </a:r>
            <a:endParaRPr lang="en-US" sz="1650" dirty="0"/>
          </a:p>
        </p:txBody>
      </p:sp>
      <p:sp>
        <p:nvSpPr>
          <p:cNvPr id="20" name="Text 17"/>
          <p:cNvSpPr txBox="1"/>
          <p:nvPr/>
        </p:nvSpPr>
        <p:spPr>
          <a:xfrm>
            <a:off x="4381805" y="5967374"/>
            <a:ext cx="1276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NAVER_API_KEY_ID, NAVER_API_KEY, NEWS_RELEVANCE_THRESHOLD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43000" y="7029907"/>
            <a:ext cx="16002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43000" y="659099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감성 분석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4381805" y="6605626"/>
            <a:ext cx="12764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OPENAI_API_KEY, OPENAI_SENTIMENT_MODEL, SENTIMENT_MINIMUM_ARTICLES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7229246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연결</a:t>
            </a:r>
            <a:endParaRPr lang="en-US" sz="1650" dirty="0"/>
          </a:p>
        </p:txBody>
      </p:sp>
      <p:sp>
        <p:nvSpPr>
          <p:cNvPr id="25" name="Text 22"/>
          <p:cNvSpPr txBox="1"/>
          <p:nvPr/>
        </p:nvSpPr>
        <p:spPr>
          <a:xfrm>
            <a:off x="4381805" y="7229246"/>
            <a:ext cx="1276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VITE_API_BASE_URL </a:t>
            </a:r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(미설정 시 http://127.0.0.1:8000)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9225382"/>
            <a:ext cx="120307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KRX 키가 없으면 ETF 데이터 수집이 실패하며, NAVER 또는 OpenAI 설정이 없으면 해당 단계는 오류 또는 제한 상태로 응답합니다.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e46635f0ee83852d09cc7b2b100d1a7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143500"/>
            <a:ext cx="7810805" cy="1619402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7905902"/>
            <a:ext cx="7810805" cy="1238098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1638605"/>
            <a:ext cx="1619402" cy="304495"/>
          </a:xfrm>
          <a:prstGeom prst="rect">
            <a:avLst/>
          </a:prstGeom>
          <a:solidFill>
            <a:srgbClr val="0F25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533449" y="1723644"/>
            <a:ext cx="103967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3조 추가 작업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876702" y="1699870"/>
            <a:ext cx="172364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 · API · 15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190902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· API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4381805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4647895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실행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5333695"/>
            <a:ext cx="7334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cd backend</a:t>
            </a:r>
            <a:endParaRPr lang="en-US" sz="1425" dirty="0"/>
          </a:p>
        </p:txBody>
      </p:sp>
      <p:sp>
        <p:nvSpPr>
          <p:cNvPr id="14" name="Text 11"/>
          <p:cNvSpPr txBox="1"/>
          <p:nvPr/>
        </p:nvSpPr>
        <p:spPr>
          <a:xfrm>
            <a:off x="1429207" y="5677510"/>
            <a:ext cx="7334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 -m pip install -r requirements.txt</a:t>
            </a:r>
            <a:endParaRPr lang="en-US" sz="1425" dirty="0"/>
          </a:p>
        </p:txBody>
      </p:sp>
      <p:sp>
        <p:nvSpPr>
          <p:cNvPr id="15" name="Text 12"/>
          <p:cNvSpPr txBox="1"/>
          <p:nvPr/>
        </p:nvSpPr>
        <p:spPr>
          <a:xfrm>
            <a:off x="1429207" y="6021324"/>
            <a:ext cx="7334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 -m uvicorn app.main:app --reload --port 8000</a:t>
            </a:r>
            <a:endParaRPr lang="en-US" sz="1425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7144207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7410298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 실행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29207" y="8096098"/>
            <a:ext cx="7334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cd frontend</a:t>
            </a:r>
            <a:endParaRPr lang="en-US" sz="1425" dirty="0"/>
          </a:p>
        </p:txBody>
      </p:sp>
      <p:sp>
        <p:nvSpPr>
          <p:cNvPr id="19" name="Text 16"/>
          <p:cNvSpPr txBox="1"/>
          <p:nvPr/>
        </p:nvSpPr>
        <p:spPr>
          <a:xfrm>
            <a:off x="1429207" y="8439912"/>
            <a:ext cx="7334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npm install</a:t>
            </a:r>
            <a:endParaRPr lang="en-US" sz="1425" dirty="0"/>
          </a:p>
        </p:txBody>
      </p:sp>
      <p:sp>
        <p:nvSpPr>
          <p:cNvPr id="20" name="Text 17"/>
          <p:cNvSpPr txBox="1"/>
          <p:nvPr/>
        </p:nvSpPr>
        <p:spPr>
          <a:xfrm>
            <a:off x="1429207" y="8783726"/>
            <a:ext cx="733440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npm run dev</a:t>
            </a:r>
            <a:endParaRPr lang="en-US" sz="1425" dirty="0"/>
          </a:p>
        </p:txBody>
      </p:sp>
      <p:sp>
        <p:nvSpPr>
          <p:cNvPr id="21" name="Text 18"/>
          <p:cNvSpPr txBox="1"/>
          <p:nvPr/>
        </p:nvSpPr>
        <p:spPr>
          <a:xfrm>
            <a:off x="9334195" y="4381805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334195" y="4647895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URL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334195" y="5143500"/>
            <a:ext cx="7810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34195" y="5639105"/>
            <a:ext cx="7810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34195" y="5296205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화면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10477195" y="5286146"/>
            <a:ext cx="21625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34195" y="6134710"/>
            <a:ext cx="7810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34195" y="5790895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확인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10477195" y="5781751"/>
            <a:ext cx="288676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http://127.0.0.1:8000/health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9334195" y="6286500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문서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10477195" y="6277356"/>
            <a:ext cx="26773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http://127.0.0.1:8000/docs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9334195" y="7334402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52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ENDPOINTS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334195" y="7601407"/>
            <a:ext cx="7810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0F25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API 엔드포인트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334195" y="8096098"/>
            <a:ext cx="7810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334195" y="8535010"/>
            <a:ext cx="7810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334195" y="8229600"/>
            <a:ext cx="6675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191902" y="8210398"/>
            <a:ext cx="13432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/api/analyses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9334195" y="8973007"/>
            <a:ext cx="78108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334195" y="8667598"/>
            <a:ext cx="6675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0191902" y="8648395"/>
            <a:ext cx="7242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9334195" y="9105595"/>
            <a:ext cx="6675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0191902" y="9087307"/>
            <a:ext cx="514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6535d320520b91ad940a52ce53e317d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4000500"/>
            <a:ext cx="16002000" cy="9144"/>
          </a:xfrm>
          <a:prstGeom prst="rect">
            <a:avLst/>
          </a:prstGeom>
        </p:spPr>
      </p:pic>
      <p:pic>
        <p:nvPicPr>
          <p:cNvPr id="3" name="Image 1" descr="gen-dedup-26535d320520b91ad940a52ce53e317d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5429707"/>
            <a:ext cx="16002000" cy="9144"/>
          </a:xfrm>
          <a:prstGeom prst="rect">
            <a:avLst/>
          </a:prstGeom>
        </p:spPr>
      </p:pic>
      <p:pic>
        <p:nvPicPr>
          <p:cNvPr id="4" name="Image 2" descr="gen-dedup-26535d320520b91ad940a52ce53e317d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6953098"/>
            <a:ext cx="16002000" cy="9144"/>
          </a:xfrm>
          <a:prstGeom prst="rect">
            <a:avLst/>
          </a:prstGeom>
        </p:spPr>
      </p:pic>
      <p:pic>
        <p:nvPicPr>
          <p:cNvPr id="5" name="Image 3" descr="gen-dedup-26535d320520b91ad940a52ce53e317d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8287207"/>
            <a:ext cx="16002000" cy="9144"/>
          </a:xfrm>
          <a:prstGeom prst="rect">
            <a:avLst/>
          </a:prstGeom>
        </p:spPr>
      </p:pic>
      <p:pic>
        <p:nvPicPr>
          <p:cNvPr id="6" name="Image 4" descr="gen-dedup-26535d320520b91ad940a52ce53e317d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143000" y="571500"/>
            <a:ext cx="30632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</a:t>
            </a:r>
            <a:pPr algn="l" indent="0" marL="0">
              <a:buNone/>
            </a:pPr>
            <a:r>
              <a:rPr lang="en-US" sz="1350" b="1" spc="-13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1"/>
          <p:cNvSpPr txBox="1"/>
          <p:nvPr/>
        </p:nvSpPr>
        <p:spPr>
          <a:xfrm>
            <a:off x="16383305" y="571500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FFFFFF">
                    <a:alpha val="56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16</a:t>
            </a:r>
            <a:endParaRPr lang="en-US" sz="105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1714500"/>
            <a:ext cx="138348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LIMITS · 16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2115007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기준과 한계</a:t>
            </a:r>
            <a:endParaRPr lang="en-US" sz="48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105302"/>
            <a:ext cx="14287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>
                    <a:alpha val="72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슬라이드는 발표 말미에 반드시 남겨야 하는 면책 · 해석 기준입니다.</a:t>
            </a:r>
            <a:endParaRPr lang="en-US" sz="165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4381805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4600346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· 거래 데이터</a:t>
            </a:r>
            <a:endParaRPr lang="en-US" sz="1950" dirty="0"/>
          </a:p>
        </p:txBody>
      </p:sp>
      <p:sp>
        <p:nvSpPr>
          <p:cNvPr id="14" name="Text 7"/>
          <p:cNvSpPr txBox="1"/>
          <p:nvPr/>
        </p:nvSpPr>
        <p:spPr>
          <a:xfrm>
            <a:off x="5715000" y="4438498"/>
            <a:ext cx="11430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KRX ETF 일별 데이터 기준입니다. 응답의 </a:t>
            </a:r>
            <a:pPr algn="l" indent="0" marL="0">
              <a:buNone/>
            </a:pPr>
            <a:r>
              <a:rPr lang="en-US" sz="1575" dirty="0">
                <a:solidFill>
                  <a:srgbClr val="0066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as_of_date</a:t>
            </a:r>
            <a:pPr algn="l" indent="0" marL="0"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pPr algn="l" indent="0" marL="0">
              <a:buNone/>
            </a:pPr>
            <a:r>
              <a:rPr lang="en-US" sz="1575" dirty="0">
                <a:solidFill>
                  <a:srgbClr val="0066FF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data_origin</a:t>
            </a:r>
            <a:pPr algn="l" indent="0" marL="0"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기준일과 출처를 확인합니다.</a:t>
            </a:r>
            <a:endParaRPr lang="en-US" sz="1575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5715000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5934456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지표 한계</a:t>
            </a:r>
            <a:endParaRPr lang="en-US" sz="1950" dirty="0"/>
          </a:p>
        </p:txBody>
      </p:sp>
      <p:sp>
        <p:nvSpPr>
          <p:cNvPr id="17" name="Text 10"/>
          <p:cNvSpPr txBox="1"/>
          <p:nvPr/>
        </p:nvSpPr>
        <p:spPr>
          <a:xfrm>
            <a:off x="5715000" y="5772607"/>
            <a:ext cx="1176009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종가 기준이며 조정 종가가 아닙니다. 저장 이력이 짧거나 주간 관측치가 부족하면 일부 지표는 산출되지 않을 수 있습니다.</a:t>
            </a:r>
            <a:endParaRPr lang="en-US" sz="1575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7239305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7457846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 감성 정보</a:t>
            </a:r>
            <a:endParaRPr lang="en-US" sz="1950" dirty="0"/>
          </a:p>
        </p:txBody>
      </p:sp>
      <p:sp>
        <p:nvSpPr>
          <p:cNvPr id="20" name="Text 13"/>
          <p:cNvSpPr txBox="1"/>
          <p:nvPr/>
        </p:nvSpPr>
        <p:spPr>
          <a:xfrm>
            <a:off x="5715000" y="7295998"/>
            <a:ext cx="11430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FFFFFF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시점과 검증된 기사에 의존하는 보조 정보입니다. 사실 확인이나 수익 예측을 대체하지 않습니다.</a:t>
            </a:r>
            <a:endParaRPr lang="en-US" sz="1575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8572500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34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8791956"/>
            <a:ext cx="38103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책임</a:t>
            </a:r>
            <a:endParaRPr lang="en-US" sz="195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8630107"/>
            <a:ext cx="11430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006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투자 판단과 책임은 사용자에게 있습니다.</a:t>
            </a:r>
            <a:endParaRPr lang="en-US" sz="195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9753905"/>
            <a:ext cx="1333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" kern="0" dirty="0">
                <a:solidFill>
                  <a:srgbClr val="FFFFFF">
                    <a:alpha val="4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 Analysis MVP · 2026 · 투자 권유가 아니며 성과를 보장하지 않습니다.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Generated by Gen-Spark</ep:Company>
  <ep:Words>1273</ep:Words>
  <ep:PresentationFormat>On-screen Show (16:9)</ep:PresentationFormat>
  <ep:Paragraphs>361</ep:Paragraphs>
  <ep:Slides>16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2026-08-11T11:30:48.000</dcterms:created>
  <dc:creator>Visual Extract to PPTX Converter</dc:creator>
  <cp:lastModifiedBy>jimin</cp:lastModifiedBy>
  <dcterms:modified xsi:type="dcterms:W3CDTF">2026-08-11T11:33:42.955</dcterms:modified>
  <cp:revision>2</cp:revision>
  <dc:subject>PptxGenJS Presentation</dc:subject>
  <dc:title>Multi-page HTML Content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