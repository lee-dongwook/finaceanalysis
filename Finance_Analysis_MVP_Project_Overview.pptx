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a5fbc48ae4d61" /><Relationship Type="http://schemas.openxmlformats.org/officeDocument/2006/relationships/extended-properties" Target="/docProps/app.xml" Id="Rab2930e6c24149aa" /><Relationship Type="http://schemas.openxmlformats.org/officeDocument/2006/relationships/officeDocument" Target="/ppt/presentation.xml" Id="R43e5b8e1af3b4f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d446095f5e4d90"/>
  </p:sldMasterIdLst>
  <p:notesMasterIdLst>
    <p:notesMasterId xmlns:r="http://schemas.openxmlformats.org/officeDocument/2006/relationships" r:id="R8ee6373f6a3341b7"/>
  </p:notesMasterIdLst>
  <p:sldIdLst>
    <p:sldId xmlns:r="http://schemas.openxmlformats.org/officeDocument/2006/relationships" id="256" r:id="R067b3f9e8c254e6e"/>
    <p:sldId xmlns:r="http://schemas.openxmlformats.org/officeDocument/2006/relationships" id="257" r:id="R27b4c67e16cd46f3"/>
    <p:sldId xmlns:r="http://schemas.openxmlformats.org/officeDocument/2006/relationships" id="258" r:id="R0c33adf61bce401b"/>
    <p:sldId xmlns:r="http://schemas.openxmlformats.org/officeDocument/2006/relationships" id="259" r:id="R0901195f6446485e"/>
    <p:sldId xmlns:r="http://schemas.openxmlformats.org/officeDocument/2006/relationships" id="260" r:id="Rdd9bcbf22cb64d44"/>
    <p:sldId xmlns:r="http://schemas.openxmlformats.org/officeDocument/2006/relationships" id="261" r:id="Re7ffe558938e4fae"/>
    <p:sldId xmlns:r="http://schemas.openxmlformats.org/officeDocument/2006/relationships" id="262" r:id="Rd199410a674843e7"/>
    <p:sldId xmlns:r="http://schemas.openxmlformats.org/officeDocument/2006/relationships" id="263" r:id="R2e6f8646ff4a4168"/>
    <p:sldId xmlns:r="http://schemas.openxmlformats.org/officeDocument/2006/relationships" id="264" r:id="R58e4811903e84532"/>
    <p:sldId xmlns:r="http://schemas.openxmlformats.org/officeDocument/2006/relationships" id="265" r:id="R49437b0b29e944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4f184b17484063" /><Relationship Type="http://schemas.openxmlformats.org/officeDocument/2006/relationships/slideMaster" Target="/ppt/slideMasters/slideMaster1.xml" Id="R64d446095f5e4d90" /><Relationship Type="http://schemas.openxmlformats.org/officeDocument/2006/relationships/notesMaster" Target="/ppt/notesMasters/notesMaster1.xml" Id="R8ee6373f6a3341b7" /><Relationship Type="http://schemas.openxmlformats.org/officeDocument/2006/relationships/presProps" Target="/ppt/presProps.xml" Id="Rf5cb0753b7a8457a" /><Relationship Type="http://schemas.openxmlformats.org/officeDocument/2006/relationships/tableStyles" Target="/ppt/tableStyles.xml" Id="R8480d9c1f66247c3" /><Relationship Type="http://schemas.openxmlformats.org/officeDocument/2006/relationships/slide" Target="/ppt/slides/slide1.xml" Id="R067b3f9e8c254e6e" /><Relationship Type="http://schemas.openxmlformats.org/officeDocument/2006/relationships/slide" Target="/ppt/slides/slide2.xml" Id="R27b4c67e16cd46f3" /><Relationship Type="http://schemas.openxmlformats.org/officeDocument/2006/relationships/slide" Target="/ppt/slides/slide3.xml" Id="R0c33adf61bce401b" /><Relationship Type="http://schemas.openxmlformats.org/officeDocument/2006/relationships/slide" Target="/ppt/slides/slide4.xml" Id="R0901195f6446485e" /><Relationship Type="http://schemas.openxmlformats.org/officeDocument/2006/relationships/slide" Target="/ppt/slides/slide5.xml" Id="Rdd9bcbf22cb64d44" /><Relationship Type="http://schemas.openxmlformats.org/officeDocument/2006/relationships/slide" Target="/ppt/slides/slide6.xml" Id="Re7ffe558938e4fae" /><Relationship Type="http://schemas.openxmlformats.org/officeDocument/2006/relationships/slide" Target="/ppt/slides/slide7.xml" Id="Rd199410a674843e7" /><Relationship Type="http://schemas.openxmlformats.org/officeDocument/2006/relationships/slide" Target="/ppt/slides/slide8.xml" Id="R2e6f8646ff4a4168" /><Relationship Type="http://schemas.openxmlformats.org/officeDocument/2006/relationships/slide" Target="/ppt/slides/slide9.xml" Id="R58e4811903e84532" /><Relationship Type="http://schemas.openxmlformats.org/officeDocument/2006/relationships/slide" Target="/ppt/slides/slide10.xml" Id="R49437b0b29e9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fc02bc41274a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61adf50dd4979" /><Relationship Type="http://schemas.openxmlformats.org/officeDocument/2006/relationships/notesMaster" Target="/ppt/notesMasters/notesMaster1.xml" Id="Rb9642db025b445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42f7b2f35a4ec3" /><Relationship Type="http://schemas.openxmlformats.org/officeDocument/2006/relationships/notesMaster" Target="/ppt/notesMasters/notesMaster1.xml" Id="R53c6246c6d664a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7b41c9378c40ae" /><Relationship Type="http://schemas.openxmlformats.org/officeDocument/2006/relationships/notesMaster" Target="/ppt/notesMasters/notesMaster1.xml" Id="Rcf8cec0be4d748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9f5e0217db44ac" /><Relationship Type="http://schemas.openxmlformats.org/officeDocument/2006/relationships/notesMaster" Target="/ppt/notesMasters/notesMaster1.xml" Id="Rd84b87d325f149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7f3a2712354a4e" /><Relationship Type="http://schemas.openxmlformats.org/officeDocument/2006/relationships/notesMaster" Target="/ppt/notesMasters/notesMaster1.xml" Id="Rbae0dde37b374e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2c92e81838422f" /><Relationship Type="http://schemas.openxmlformats.org/officeDocument/2006/relationships/notesMaster" Target="/ppt/notesMasters/notesMaster1.xml" Id="R15317a47b1c2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bfbbde7b084bda" /><Relationship Type="http://schemas.openxmlformats.org/officeDocument/2006/relationships/notesMaster" Target="/ppt/notesMasters/notesMaster1.xml" Id="R1f25625196ba4b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0f1cedd9fb435f" /><Relationship Type="http://schemas.openxmlformats.org/officeDocument/2006/relationships/notesMaster" Target="/ppt/notesMasters/notesMaster1.xml" Id="R9afccc99364441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f572057872446e" /><Relationship Type="http://schemas.openxmlformats.org/officeDocument/2006/relationships/notesMaster" Target="/ppt/notesMasters/notesMaster1.xml" Id="Rd50b77aeaf344e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832d547ee54dbf" /><Relationship Type="http://schemas.openxmlformats.org/officeDocument/2006/relationships/notesMaster" Target="/ppt/notesMasters/notesMaster1.xml" Id="Rbf047d6d4d0648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documents: requirements.md, function-breakdown.md, mvp-plan.md,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documents: requirements.md and mvp-plan.md. The investment-analysis disclaimer is defined in project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documents: requirements.md, function-breakdown.md, mvp-plan.md.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documents: mvp-plan.md, README.md, and current implementation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README.md and requested data-collection functionality. KRX data is stored in SQLite; the 12-month history policy is current project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quantitative-analysis requirements and implementation. Metrics, normalization, and denominator-zero policy are in the project source and API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README.md and news-analysis scope. Naver news collection and OpenAI sentiment analysis are separated; no future-return prediction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documents: function-breakdown.md, README.md, and current source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guidance in AGENTS.md and project documents. Scope exclusions match requirements.md and mvp-plan.md.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documents: requirements.md, function-breakdown.md, mvp-plan.md,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ee07701bd4f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7f77836c4645c2" /><Relationship Type="http://schemas.openxmlformats.org/officeDocument/2006/relationships/slideLayout" Target="/ppt/slideLayouts/slideLayout1.xml" Id="R1197b7e01e4d44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97b7e01e4d44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69f1981bb48c8" /><Relationship Type="http://schemas.openxmlformats.org/officeDocument/2006/relationships/notesSlide" Target="/ppt/notesSlides/notesSlide1.xml" Id="R6dbf86954f3340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12401ac9947ab" /><Relationship Type="http://schemas.openxmlformats.org/officeDocument/2006/relationships/notesSlide" Target="/ppt/notesSlides/notesSlide2.xml" Id="R33db16671470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5d3006a974997" /><Relationship Type="http://schemas.openxmlformats.org/officeDocument/2006/relationships/notesSlide" Target="/ppt/notesSlides/notesSlide3.xml" Id="R6368c7937b7743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746e4bb454d2d" /><Relationship Type="http://schemas.openxmlformats.org/officeDocument/2006/relationships/notesSlide" Target="/ppt/notesSlides/notesSlide4.xml" Id="R5dddcb3924f343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8d55d9fff4621" /><Relationship Type="http://schemas.openxmlformats.org/officeDocument/2006/relationships/notesSlide" Target="/ppt/notesSlides/notesSlide5.xml" Id="R9b1601bd997d4d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c0d59066f462c" /><Relationship Type="http://schemas.openxmlformats.org/officeDocument/2006/relationships/notesSlide" Target="/ppt/notesSlides/notesSlide6.xml" Id="R5ea9af8f82134e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81ec89237434b" /><Relationship Type="http://schemas.openxmlformats.org/officeDocument/2006/relationships/notesSlide" Target="/ppt/notesSlides/notesSlide7.xml" Id="R6cc1090d6d1049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e22986c7949d6" /><Relationship Type="http://schemas.openxmlformats.org/officeDocument/2006/relationships/notesSlide" Target="/ppt/notesSlides/notesSlide8.xml" Id="R71ced3498b5c48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a910fbcbe4da4" /><Relationship Type="http://schemas.openxmlformats.org/officeDocument/2006/relationships/notesSlide" Target="/ppt/notesSlides/notesSlide9.xml" Id="Rdb44683aeb014b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015b179d542b5" /><Relationship Type="http://schemas.openxmlformats.org/officeDocument/2006/relationships/notesSlide" Target="/ppt/notesSlides/notesSlide10.xml" Id="Raac1693f332c42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AB7B1-E4BE-444B-BF79-24A52293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C81BF-7E33-45B1-BF5D-94D699D1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7D4E-D085-4E78-A54E-981A76FA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금융 데이터 분석 및</a:t>
            </a:r>
          </a:p>
          <a:p xmlns:a="http://schemas.openxmlformats.org/drawingml/2006/main">
            <a:pPr algn="l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ETF 추천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0FAF8-D865-4581-8858-11BC66CD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국내 상장 ETF를 대상으로 투자 조건, 데이터, 정량 지표,</a:t>
            </a:r>
          </a:p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최근 뉴스 근거를 한 흐름으로 연결하는 의사결정 보조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A6FF3-3002-4BEC-840D-C8DBC30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"/>
            <a:ext cx="289560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C5E1B-C297-477B-8D24-F482B4D6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92435-CEEE-45E3-904A-3A37028C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14425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3A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44D87-B3A0-4EBE-B013-C1059F52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38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1417D-E67B-48F0-BFAA-CB915FA3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14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10A1E-3132-4CEF-901A-2F2F615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62175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3A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06BD9-A3BE-4165-9A99-8CBD46D8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859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29B75-512B-4566-94F3-CC11E14C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D9C37-DFEF-4215-9B5C-148B35D5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3A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2818B-E3B1-4174-B692-11AB6FC5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337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A8721-43DD-45FA-ACAC-C3A5580D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D8516-2A47-43F8-B8E1-76D8D390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57675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3A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53FBB-F69A-4E83-BDA7-6F283CD1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039C7-79D0-4D46-8688-196AABF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C00FE-CF63-4FC4-91BD-52A9FD6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68518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72689-12D6-4FA8-A4E2-6ADBBA5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FC6E8-B405-4102-9467-FC2B2ABA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273DC-895B-4FB9-B91A-D911535D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ETF 선택의 ‘정보 탐색’을 ‘근거 비교’로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55C82-1035-46F6-9E61-BA855DBE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추천 결과만 보여주지 않고, 사용자가 근거와 위험을 함께 확인할 수 있게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32CA2-8387-4CFD-9537-D3BD89E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CDD6E-69E6-4EAB-96DD-359B3AF1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5E92E-EA02-41B4-9D66-9E08A2C2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5750C-944C-4354-A068-BF953A6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381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38575-39F0-4E6A-BCAC-51B733A8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63D2F-07DB-4400-A216-974363F9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USER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63883-9C79-4F8C-9DD6-EEAD1D15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962275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정보가 흩어져 있음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B2B05-A73D-410B-8D8A-57E3D90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투자 조건, 가격, 뉴스, 구성 종목을 따로 찾아야 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5C5AF-6AC0-443F-A78C-754BF20A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3381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02EFB-217B-40C6-8602-4129D975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1BF51-28FB-4A4D-9F47-97C5798B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9080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A57"/>
                </a:solidFill>
                <a:latin typeface="Arial"/>
                <a:ea typeface="Arial"/>
                <a:cs typeface="Arial"/>
              </a:rPr>
              <a:t>MVP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92511-53DC-4480-BED8-EA03186F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05125"/>
            <a:ext cx="2962275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분석 흐름을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3B369-7AEB-4534-8D71-282B1967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9090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입력 → 후보 → 정량 → 뉴스 → 포트폴리오를 한 요청으로 연결합니다.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98B74-0C50-4940-8CD2-4066D96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3390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50C16-EDF0-42BA-A0B5-EEFC504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70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9B974-8485-4E37-BDE1-71ADA1D1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9080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67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6700"/>
                </a:solidFill>
                <a:latin typeface="Arial"/>
                <a:ea typeface="Arial"/>
                <a:cs typeface="Arial"/>
              </a:rPr>
              <a:t>DECISION PRINCIPLE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5DE89-0612-4389-B934-06519622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05125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판단은 사용자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74408-6986-421F-B831-E650F4D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서비스는 정보 제공 목적이며 성과나 수익을 보장하지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E9599-F23B-4421-AF71-89100AC0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서비스 목표</a:t>
            </a:r>
          </a:p>
        </p:txBody>
      </p:sp>
    </p:spTree>
    <p:extLst>
      <p:ext uri="{BB962C8B-B14F-4D97-AF65-F5344CB8AC3E}">
        <p14:creationId xmlns:p14="http://schemas.microsoft.com/office/powerpoint/2010/main" val="14700144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CF616F-7C2F-492F-850F-F6738E96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0081D-B094-4085-B716-2A6534BD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A0071-CA37-4236-A764-A7EB581D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한 번의 분석 요청이 8단계 결과로 이어집니다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A7ADD-57EB-4081-8E0A-FD6B7F9A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Frontend는 입력·표시, Backend는 검증·조정, 분석 모듈은 계산과 근거 생성을 담당합니다.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8CF19-2B42-4244-B968-4D552C41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4C534-B1CA-4A00-8ABE-4D2601D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C83F4-4912-4B64-9AD6-A54CE2B8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435C1-9DDD-490A-B46D-CC55EAAD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552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1C8F9-279C-46A2-AC42-FF958E4E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00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8882F-AAE5-4142-8602-9D3C796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43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투자 조건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F26E3-ED85-4E8F-8EFE-CF7BDC7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45D13-640F-47A9-9743-EC634CB9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38375"/>
            <a:ext cx="2552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F6F2D-120A-43A1-A991-E4C37BAE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0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10C1E-D017-47A1-AF64-F39981BC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43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입력값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D2DB8-9F4C-46D5-AE70-3B5F62F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479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2285B-E207-410B-B314-4EC3303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552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72554-ACA6-4883-9A10-F669E5FD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00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3F7C6-B271-421D-B71C-E1708D60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43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ETF 데이터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58489-FB1A-47B6-8EBB-F905E829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479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908D3-54D7-4ABE-B5FF-033A86BE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552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7D792-AC7F-4978-89E1-560D675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0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C5924-F859-4D03-B564-1FCE8C41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43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1차 후보 필터링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57195-CCE4-49AA-819E-B541E6F1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2552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2AD69F-B999-4C22-8A80-178DF5B3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67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B1B7C1-8243-4022-BB51-F3673EA2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100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정량 분석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232E6-EC0D-4332-A658-2E18053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14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6312F4-8298-48DB-8055-8E5D0AB8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05225"/>
            <a:ext cx="2552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33489-0115-42BB-BC61-DE24BEE7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67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43232-7A0E-435B-97F0-DF21D2CF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100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뉴스·감성 분석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5C0BF-ED1E-4A03-8C6E-A739DD20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14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472A67-B881-4B3A-B245-A5246998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05225"/>
            <a:ext cx="2552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876BC4-FE9F-49C0-BD8D-82FD4AF2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67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EB1806-65DA-415B-9AA1-37D1B10F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100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결과 종합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6B289C-CAB1-4B29-A5CB-035CA76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E6D59D-E6D2-4148-A50B-7A4F4E4E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05225"/>
            <a:ext cx="2552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6AF57B-7028-4EEF-B475-E6677BD9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67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53611C-C29C-4307-BA43-C6378CB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100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포트폴리오 출력</a:t>
            </a:r>
          </a:p>
        </p:txBody>
      </p:sp>
    </p:spTree>
    <p:extLst>
      <p:ext uri="{BB962C8B-B14F-4D97-AF65-F5344CB8AC3E}">
        <p14:creationId xmlns:p14="http://schemas.microsoft.com/office/powerpoint/2010/main" val="1113176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0E9645-B017-4E32-8EE1-37FA699F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F9792-0D53-44CA-89E1-C22E5CF9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FDA07-0053-4093-9759-390C08B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결과 화면에서 확인하는 핵심 산출물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2D068-F9B3-46EF-A57F-252FC60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각 산출물은 데이터의 출처·시점·계산 기준과 함께 확인할 수 있도록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69C8A-C1AC-45C0-B252-7A78484C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67FE1-B1D3-4915-B898-28E2F128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24C50-FE7A-4181-83D0-7E73B82E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D8F3F-56B5-4E11-81DB-B8AD42E8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038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6D78E-5883-4855-BDEF-C02301DA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9A035-AAB4-4197-9D22-71A19C6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C5BDE-125E-4303-8E8A-4B4214E5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투자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BC8DB-DA63-4621-89F5-88FDDC50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금액·기간·위험성향·손실한도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선호자산·현금비중·테마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567D3-50B6-4A67-9B20-00CF68AC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2038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C6398-BD68-4D1A-AD1E-56EE7B86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8253A-D8D9-440D-AF7A-E696561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90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85A80-49FF-48C8-9818-3FA5CF76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05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후보 ETF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F5B4C-2275-47A0-BAF2-C01C3CFF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규칙 기반 1차 후보와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후보 제외·경고 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C3FFF-57CD-457F-B662-DC4DAA6D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038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0F127-E6FF-4954-851C-ED9F973B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DB2AA-17AD-432E-8344-21DC627E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90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70F01-1D62-4CFA-AF76-4EC652D9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05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정량 분석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7152D-DA5C-4B8B-8F43-225DB221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9090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수익률·변동성·MDD·샤프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평균 거래대금·적합점수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143A38-D363-4DBE-9623-E4AB57C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38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2E315-BFD7-4823-AF5E-15640F3E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2A27E-700A-46C8-82B2-BF0F67AE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90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A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4B1BC-6030-4B26-8053-AA775D28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05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뉴스·감성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56A0B-2275-4613-B896-B8526A6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최근 30일 기사·감성 근거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핵심 이슈·위험요인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F886D-4F9A-411C-987D-80462682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2038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96B5E-1248-4755-8346-4E4A9E33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C35D96-6686-4637-9B2D-A3F0DDA7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908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80CF51-CD65-45C9-9063-89BAE434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05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포트폴리오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7C3E2-62A6-42D8-A478-4473C6C6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9090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DE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DEEB"/>
                </a:solidFill>
                <a:latin typeface="Arial"/>
                <a:ea typeface="Arial"/>
                <a:cs typeface="Arial"/>
              </a:rPr>
              <a:t>ETF별 비중·금액·보유기간</a:t>
            </a:r>
          </a:p>
          <a:p xmlns:a="http://schemas.openxmlformats.org/drawingml/2006/main">
            <a:pPr algn="l">
              <a:defRPr sz="1200" b="0">
                <a:solidFill>
                  <a:srgbClr val="D4DE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DEEB"/>
                </a:solidFill>
                <a:latin typeface="Arial"/>
                <a:ea typeface="Arial"/>
                <a:cs typeface="Arial"/>
              </a:rPr>
              <a:t>선정 근거·위험·구성 종목</a:t>
            </a:r>
          </a:p>
        </p:txBody>
      </p:sp>
    </p:spTree>
    <p:extLst>
      <p:ext uri="{BB962C8B-B14F-4D97-AF65-F5344CB8AC3E}">
        <p14:creationId xmlns:p14="http://schemas.microsoft.com/office/powerpoint/2010/main" val="1377995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7AF2D-3376-4FB3-8CC2-87BA1581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DA3CC-D3E7-412A-A3AF-CF03289B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203C-CC2A-4259-B452-C29208C2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최신 ETF 일별 데이터를 확인하고, 분석 가능한 후보를 구성합니다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B05FB-D2EC-461E-AE47-3DF2CC7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KRX Open API 데이터는 SQLite에 보관하고 최신 영업일 및 12개월 이력 보유 여부를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A6A6F-2E13-45E9-ABF0-CD7E84D0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C38E8-1FBF-493C-BD63-823F1585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58604-70F0-43B3-9494-09277ABF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572E5-C8D8-443A-9BD1-D7835B24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9825"/>
            <a:ext cx="2533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7BBE1-945E-46E5-A304-C262DB83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0E7F9-2EFD-4382-A588-D315E269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KRX Open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3A3AF-0683-4393-87C3-3C49B081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국내 상장 ETF 일별 데이터 수집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C0504-76D3-4019-8B1A-800D133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24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408A8-536B-41DB-9ADC-F08590E8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2533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5C39C-C89E-4BB6-A6D4-18FC738C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384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58404-CE8F-4211-B014-9B44FF47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67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7518B-7F1E-4EA1-AE91-AB57BE99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814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일자별 가격·거래·기본 정보 보관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10000-7AB2-4177-848F-C25E758B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24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CB61C-1B24-46DE-BBC9-A98050B2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9825"/>
            <a:ext cx="2533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9B519-CA47-4D30-91D9-E73B66E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6827A-D2AC-496A-B819-1805A883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최신성 점검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829D7-78C7-4BFD-A0E5-B5DD7417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최신 영업일·필요 이력 부족 시 수집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4B386-966B-4F3D-B9F4-F71C77F0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24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EB9CD-FCDA-4C5E-8AFA-305CAF1A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9825"/>
            <a:ext cx="2533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95181-74E5-49B7-BC0F-3B267209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384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7D33B-6099-40F1-ABE9-366B0AB0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규칙 기반 필터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7331FD-FF2B-4C68-9099-8E189691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814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조건·선호 자산·테마 키워드 반영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E7FAD-C024-4A0F-9E10-9D153DBE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필터링 결과는 최대 200개 후보로 제한하며, 매수 신호가 아니라 후속 분석의 검토 대상을 정리하는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1877220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7748BA-BEF4-416D-BED1-6BFD0E9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EB978-C05A-41DF-9ABE-1D9E92F6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5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QUANTITATIVE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167DB-94A6-4531-98AA-0A09C5B2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일반 코드가 정량 지표를 계산하고, 비교 가능한 점수로 정리합니다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C5871-1A33-4588-BA55-3BCC1453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Agent가 아닌 일반 분석 코드가 산출하며 계산 기준과 결측 처리 상태를 응답에 남깁니다.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96C64-ED01-47E9-931D-EB95DF14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6EA2B-DBD4-40D3-AD49-4E224B49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AE96E-EB76-4B92-92F0-D71E33E3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D223-BEBC-4551-A6AD-EF8D385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1391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03130-8276-4D73-9A53-73FAB5B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정량 지표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8FF85-074E-46BF-BFFF-224D6E9D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해석 방향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3E1C9-6770-441F-AFDF-EA37A505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계산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62EA1-80A2-4B8B-AED2-5DDD354B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1391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E212E-35E7-4C1D-A7C5-D2E367B0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수익률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FC14B-0512-40D7-9AAC-258E065E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A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A57"/>
                </a:solidFill>
                <a:latin typeface="Arial"/>
                <a:ea typeface="Arial"/>
                <a:cs typeface="Arial"/>
              </a:rPr>
              <a:t>높을수록 유리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6FEE9-5720-47B4-B93C-A670061C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908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관찰기간 누적 성과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EE242-51DA-4491-9829-75D90A77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11391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F2749-C25E-477F-9C63-226E9C67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연환산 변동성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58ED5-F920-4CD0-8221-C4117D8C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낮을수록 유리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DB9E3-8972-4D2D-92CF-A7682130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813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일별 수익률의 변동 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A031B-9F2C-4F5B-A5AF-6717F5AB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11391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FCBE2-B2D1-435A-80C7-E0B982F0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MDD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EFD76-8A50-4CEE-8D4B-AF9E22BE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낮을수록 유리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0FF3F3-F562-4332-B0A8-FB0CD2A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719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관찰기간 최대 낙폭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52C5C-8E9B-4218-AF40-554358CD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11391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74E393-1CF1-4556-87E2-5F844BD3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샤프지수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8763A-D468-4F54-A1BF-D52FE915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A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A57"/>
                </a:solidFill>
                <a:latin typeface="Arial"/>
                <a:ea typeface="Arial"/>
                <a:cs typeface="Arial"/>
              </a:rPr>
              <a:t>높을수록 유리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A0812-EE91-475A-AB9A-813D0D32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624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무위험수익률 대비 위험 조정 성과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8115F-A73B-4786-B33C-EB51501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99A14-A5C9-4C80-974C-335E7196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평균 거래대금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82EBCF-31FA-4E27-8B39-DA42142E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62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A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A57"/>
                </a:solidFill>
                <a:latin typeface="Arial"/>
                <a:ea typeface="Arial"/>
                <a:cs typeface="Arial"/>
              </a:rPr>
              <a:t>높을수록 유리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2148E-6EB6-4A0D-9ABF-2AFABBE9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530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거래 유동성 참고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22FD32-BF27-4918-B350-C6F20A6A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각 지표는 0~100으로 정규화합니다. 모든 값이 같아 분모가 0이면 50점을 반환합니다.</a:t>
            </a:r>
          </a:p>
        </p:txBody>
      </p:sp>
    </p:spTree>
    <p:extLst>
      <p:ext uri="{BB962C8B-B14F-4D97-AF65-F5344CB8AC3E}">
        <p14:creationId xmlns:p14="http://schemas.microsoft.com/office/powerpoint/2010/main" val="20241121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6BB627-9DCC-442D-A5B3-D2182150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93957-E357-4075-9158-37DC143D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NEWS &amp; AI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E05A7-3A2A-4B87-83B9-205ABC7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최근 뉴스의 관련성을 검증하고, AI는 근거를 구조화합니다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969D1-8FF2-46C0-92B9-4F53A386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뉴스 수집과 감성 분석을 분리해, 부족한 근거와 분석 실패 상태도 명확히 구분합니다.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8AFD2-57F4-468C-91CD-20528A88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71B05-4602-4784-B784-3D50C133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99544-4360-4705-85FA-D3BA70BF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478D8-B294-4D30-A7D0-98DAFF5C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295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97741-0911-4035-B6CD-23A3793E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83B91-1D0A-4FF2-A63A-EA46C49B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11EED-F4B6-49D1-ABFC-26EA05C5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검색 어댑터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13EA2-DBD2-4D58-B64B-DFDEF983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48768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ETF명·종목코드·기초지수·산업·지역 키워드로 최근 30일 기사 수집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CBDA7-FAF0-4C46-86F6-69B43F05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5295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D81A1-C24F-4017-BE09-098798F7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E3475-F848-4C18-AE91-D5028B6C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DEDB9-1F5D-4880-B97F-413ACCF2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기사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AA3A1-BA05-4BF7-A1B0-5555946D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28975"/>
            <a:ext cx="48768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게시일·출처·관련성 확인, 제목·URL·본문 유사도 기반 중복 제거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22DB7-91A6-4278-BC94-A2905177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5295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EDFFE-7BB1-4552-A8F4-8C3B4DD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2EC38-CD21-48EE-AA40-DB58D09F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E9BE2-69FE-4776-8820-62748F32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9FA97-40FA-4C1A-91E6-4895C883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8768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DE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DEEB"/>
                </a:solidFill>
                <a:latin typeface="Arial"/>
                <a:ea typeface="Arial"/>
                <a:cs typeface="Arial"/>
              </a:rPr>
              <a:t>긍정·중립·부정, 감성 근거, 핵심 이슈, 위험요인 구조화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E0F3B-B231-4211-8960-918DD5D1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5295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2740B-0D42-4358-A599-6463DAE9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DA7B6-2FE3-435F-860A-241AF382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32FFC-6C0B-4494-BCB6-E7847822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1482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상태 반환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B76753-0E8F-4C86-A03E-86E01054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48768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뉴스 부족과 AI 응답 형식 오류를 서로 다른 상태로 표시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02908-1EC6-4DAC-AB61-9BD9DFDF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결과는 미래 수익률 예측이나 투자 권유가 아니라, 검증된 뉴스 근거를 읽고 비교하기 위한 보조 정보입니다.</a:t>
            </a:r>
          </a:p>
        </p:txBody>
      </p:sp>
    </p:spTree>
    <p:extLst>
      <p:ext uri="{BB962C8B-B14F-4D97-AF65-F5344CB8AC3E}">
        <p14:creationId xmlns:p14="http://schemas.microsoft.com/office/powerpoint/2010/main" val="15526595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0297C-0471-4671-9503-3B274828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E4B6E-D815-426B-BBDF-09F54439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17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93F70-DC23-4140-B7CC-FA90167D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화면, API, 분석 코드, AI Service, 저장소를 역할별로 분리했습니다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18A42-B93F-4885-B112-BAD02AC3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기능을 나눠 유지보수성과 테스트 가능성을 확보하는 MVP 구조입니다.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1388F-827D-4825-9DAA-50A51B09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FD4E9-1E02-444D-8BD7-863A86F6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A0307-57D1-4220-B4B5-B3C06B68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00E89-553A-482A-9C37-BD5AB18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505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7C9E4-979F-4A39-9AC8-FF34F507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37C2D-493D-481E-9ACC-3043581E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776B9-89F5-4119-93A6-7286148F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D95CF-3E1A-454F-B381-CF2B2C77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Vite · React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입력 검증, 분석 API 호출, 결과 테이블·카드·차트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75257-221B-403E-8D19-069A903E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3505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B02CF-0C3B-4309-B41C-D442647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E99EA-B848-40C3-B7C6-10784D1F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56EED-C40B-4EF3-B8B6-18DE4C2B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146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B4484-8C3E-458A-BD6D-BACE8EE4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FastAPI · Pydantic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요청·응답 모델, 상태·오류 처리, 로그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454A2-6AE8-464E-8300-1D037752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505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584B8-A6C9-4331-8D38-BED4FEE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FF11B-142E-4F86-A18C-69CFCDE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64F8A-A25D-409D-A2D9-55AC95C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&amp;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E1859-CC23-41CB-88DA-F2E9721D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KRX · SQLite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ETF 일별 데이터, 뉴스·감성·분석 결과 저장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1A06F-798A-41C9-B1D2-7AE3FA67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505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87B4E-F4DB-4C87-A445-18574416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FC9FBC-D9DB-49DB-BB68-413E2983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2FB51-9646-42ED-AA2E-63278F7F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A7615-45C9-40D7-8BAB-2405EE70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일반 코드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후보 필터·정량 계산·적합점수·포트폴리오 계산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C1EC96-8E5E-4712-9001-A7D58630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62400"/>
            <a:ext cx="3505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EFBC62-93B2-40EE-8CE6-39AEA02B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624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E46D3-5DDE-49D8-BBAD-07AC0BA4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LAYER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F78D90-915B-47D7-9392-08CDC173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672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1B535C-B0E4-418F-B6A8-EB88ED5B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DE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DEEB"/>
                </a:solidFill>
                <a:latin typeface="Arial"/>
                <a:ea typeface="Arial"/>
                <a:cs typeface="Arial"/>
              </a:rPr>
              <a:t>OpenAI API</a:t>
            </a:r>
          </a:p>
          <a:p xmlns:a="http://schemas.openxmlformats.org/drawingml/2006/main">
            <a:pPr algn="l">
              <a:defRPr sz="1200" b="0">
                <a:solidFill>
                  <a:srgbClr val="D4DE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DEEB"/>
                </a:solidFill>
                <a:latin typeface="Arial"/>
                <a:ea typeface="Arial"/>
                <a:cs typeface="Arial"/>
              </a:rPr>
              <a:t>검증 뉴스의 감성 근거·핵심 이슈·위험요인 구조화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80FCB8-26C9-4BE1-BB25-917A9B74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Core Analysis와 AI Service의 분리: 계산 가능한 수치는 일반 코드로, 뉴스의 문맥 요약은 AI로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715728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81D480-E98D-4F6F-8F47-E348677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4A131-B9E3-4DF5-9020-0FE6F779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549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&amp; MVP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BF764-38EF-448F-B8E7-0FE116F2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데이터 신뢰성, 오류 상태, 테스트 가능성을 결과에 함께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F45DC-A4D3-4508-BC21-E4E7D661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MVP 범위를 넘어서는 기능은 포함하지 않고, 분석 근거를 투명하게 제공하는 데 집중합니다.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EDBA2-DEF5-42E2-B85E-639F524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8DE75-96E4-48CF-8FD2-3235F0E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CDE56-353A-4787-BB6D-41FA03EE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414A8-58F2-40FC-BAC2-458FF2DA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295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96A8B-5B7D-4599-99B3-7259F50B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95720-0867-4607-87F8-B33EC95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A57CF-4CAE-401E-81E3-92D06E69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7091F-E30C-4E63-9A33-D878A106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48768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KRX·뉴스·OpenAI 키는 .env에서 관리하며 예시 값만 .env.example에 둡니다.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1A989-E829-448B-8488-D5AB214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5295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8F7A3-FFFE-4765-BB5F-4991FC8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2409E-93FC-48DA-B641-3D71D307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7F279-0070-4DE9-911E-35FF757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오류·로그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000A2-1802-4C6C-AD40-0EDDE210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28975"/>
            <a:ext cx="48768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데이터 부족·뉴스 부족·분석 실패를 상태로 구분하고 서버 로그에 남깁니다.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BDF2B-5C1C-4DD7-A446-6952DBFB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5295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09320-1E47-4507-A1ED-FD6BDCE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EE011-12BD-4320-BA5F-94526DB4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13E96-1C8E-450C-8301-7795AE36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테스트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B0584-63EF-441D-BE23-1B0789B4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8768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고정 입력 데이터로 정량 계산·점수 정렬을 검증하고 API/화면 흐름을 점검합니다.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963C0-D176-4DE0-B252-211B127B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5295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A9218-6CDF-4188-997F-F51A29C0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53A58-355F-463A-83A7-D7A5A30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OUT OF 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02F13B-E73E-4E74-AC8D-4D04230F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1482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 제외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FE05A-F8E9-4A44-9264-E48FCBB4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48768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4166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DE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DEEB"/>
                </a:solidFill>
                <a:latin typeface="Arial"/>
                <a:ea typeface="Arial"/>
                <a:cs typeface="Arial"/>
              </a:rPr>
              <a:t>로그인, 자동매매, 실시간 스트리밍, 사용자 이력 저장, 고급 예측 모델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A7743-4DDA-433E-AAAB-6CE7D174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6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628"/>
                </a:solidFill>
                <a:latin typeface="Arial"/>
                <a:ea typeface="Arial"/>
                <a:cs typeface="Arial"/>
              </a:rPr>
              <a:t>최종 투자 결정과 책임은 사용자에게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264003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4B3F5-67F9-4B5D-815C-022F2C5D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807D5-C25A-4F17-A214-94B6A609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8066B-CE81-44EB-A613-8B9294A2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86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Finance Analysis MVP가 제공하는 가치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5F2D3-2ED0-4535-984B-E935408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데이터를 모으는 것에서 끝나지 않고, 사용자가 근거를 이해하고 비교하도록 돕습니다.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808D6-3F6A-409B-A65C-A00FFBDD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08C40-39CF-4429-A906-3DF35A97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Finance Analysis MVP · 정보 제공 목적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14B1D-0A75-46AB-990C-7F69597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DEBB5-2AC9-4F65-87E7-126C684F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25527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83AB3-7219-4E58-8CD9-495D523A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D045D-3D49-49FD-B38A-3FF65539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B2EDC-CB73-475D-88F9-393DF73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투자 조건을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분석 기준으로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55CE5-85C6-4732-9D27-8227941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D9560-2C6E-4081-B100-2580A4CA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05075"/>
            <a:ext cx="25527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43939-7F52-4FB6-A7FF-C670742B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53B60-A8B9-4E4D-B172-C54812A9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62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3C505-AE3F-4A87-8131-76D5FA8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데이터·정량·뉴스를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책임별 모듈로 처리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9CDA5-D526-4B80-B462-C79A22FA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33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BD43F-1F23-4A31-9353-9F8C36D1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05075"/>
            <a:ext cx="25527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2B643-43F0-4EA8-B6CF-E26040AD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87CCE-FC87-427D-A7DC-6BC5AE93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출력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A365C-905A-4598-B975-3B2F2D03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포트폴리오·근거·위험을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한 결과 화면에 제공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64E2F-A169-450D-BFFA-714D4F3F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1B0FF-581C-467F-886D-B831072D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05075"/>
            <a:ext cx="25527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218B3-5BC7-4E73-B51E-44C9620D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E19DD-5C54-4C22-91C8-0239341B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판단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C1209-488D-431C-ADB3-30E3B767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E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DEEB"/>
                </a:solidFill>
                <a:latin typeface="Arial"/>
                <a:ea typeface="Arial"/>
                <a:cs typeface="Arial"/>
              </a:rPr>
              <a:t>사용자가 확인하고</a:t>
            </a:r>
          </a:p>
          <a:p xmlns:a="http://schemas.openxmlformats.org/drawingml/2006/main">
            <a:pPr algn="l">
              <a:defRPr sz="1350" b="0">
                <a:solidFill>
                  <a:srgbClr val="D4DE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DEEB"/>
                </a:solidFill>
                <a:latin typeface="Arial"/>
                <a:ea typeface="Arial"/>
                <a:cs typeface="Arial"/>
              </a:rPr>
              <a:t>최종 결정을 내림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1B6A73-0EAC-4C21-9D79-FDA9EA67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정보 기반의 ETF 분석 흐름 · 금융 데이터 분석 및 ETF 추천 MVP</a:t>
            </a:r>
          </a:p>
        </p:txBody>
      </p:sp>
    </p:spTree>
    <p:extLst>
      <p:ext uri="{BB962C8B-B14F-4D97-AF65-F5344CB8AC3E}">
        <p14:creationId xmlns:p14="http://schemas.microsoft.com/office/powerpoint/2010/main" val="183678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2026-08-11T11:09:46.5710000Z</dcterms:created>
  <dcterms:modified xsi:type="dcterms:W3CDTF">2026-08-11T11:09:46.5710000Z</dcterms:modified>
</coreProperties>
</file>